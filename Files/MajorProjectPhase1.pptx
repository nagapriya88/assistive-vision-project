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342" r:id="rId2"/>
    <p:sldId id="369" r:id="rId3"/>
    <p:sldId id="259" r:id="rId4"/>
    <p:sldId id="343" r:id="rId5"/>
    <p:sldId id="360" r:id="rId6"/>
    <p:sldId id="361" r:id="rId7"/>
    <p:sldId id="362" r:id="rId8"/>
    <p:sldId id="374" r:id="rId9"/>
    <p:sldId id="376" r:id="rId10"/>
    <p:sldId id="377" r:id="rId11"/>
    <p:sldId id="370" r:id="rId12"/>
    <p:sldId id="378" r:id="rId13"/>
    <p:sldId id="372" r:id="rId14"/>
    <p:sldId id="373" r:id="rId15"/>
    <p:sldId id="375" r:id="rId16"/>
    <p:sldId id="3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860" autoAdjust="0"/>
    <p:restoredTop sz="94660"/>
  </p:normalViewPr>
  <p:slideViewPr>
    <p:cSldViewPr snapToGrid="0">
      <p:cViewPr varScale="1">
        <p:scale>
          <a:sx n="78" d="100"/>
          <a:sy n="78" d="100"/>
        </p:scale>
        <p:origin x="1022"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C47C9E-4665-4E33-98F6-83BEDCEB0F74}" type="datetimeFigureOut">
              <a:rPr lang="en-US" smtClean="0"/>
              <a:t>6/6/2026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7B599D-1D5B-4EC3-A8A1-C8A1F6EF0C70}" type="slidenum">
              <a:rPr lang="en-US" smtClean="0"/>
              <a:t>‹#›</a:t>
            </a:fld>
            <a:endParaRPr lang="en-US"/>
          </a:p>
        </p:txBody>
      </p:sp>
    </p:spTree>
    <p:extLst>
      <p:ext uri="{BB962C8B-B14F-4D97-AF65-F5344CB8AC3E}">
        <p14:creationId xmlns:p14="http://schemas.microsoft.com/office/powerpoint/2010/main" val="1335145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9D5623E-A03C-43D5-AF92-9CD87997A196}" type="datetimeFigureOut">
              <a:rPr lang="en-US" smtClean="0"/>
              <a:t>6/6/2026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A003DE9A-DE9E-4F9F-8A08-837CC26C1739}" type="slidenum">
              <a:rPr lang="en-US" smtClean="0"/>
              <a:t>‹#›</a:t>
            </a:fld>
            <a:endParaRPr lang="en-US"/>
          </a:p>
        </p:txBody>
      </p:sp>
    </p:spTree>
    <p:extLst>
      <p:ext uri="{BB962C8B-B14F-4D97-AF65-F5344CB8AC3E}">
        <p14:creationId xmlns:p14="http://schemas.microsoft.com/office/powerpoint/2010/main" val="18283817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9D5623E-A03C-43D5-AF92-9CD87997A196}" type="datetimeFigureOut">
              <a:rPr lang="en-US" smtClean="0"/>
              <a:t>6/6/2026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A003DE9A-DE9E-4F9F-8A08-837CC26C1739}" type="slidenum">
              <a:rPr lang="en-US" smtClean="0"/>
              <a:t>‹#›</a:t>
            </a:fld>
            <a:endParaRPr lang="en-US"/>
          </a:p>
        </p:txBody>
      </p:sp>
    </p:spTree>
    <p:extLst>
      <p:ext uri="{BB962C8B-B14F-4D97-AF65-F5344CB8AC3E}">
        <p14:creationId xmlns:p14="http://schemas.microsoft.com/office/powerpoint/2010/main" val="16534063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9D5623E-A03C-43D5-AF92-9CD87997A196}" type="datetimeFigureOut">
              <a:rPr lang="en-US" smtClean="0"/>
              <a:t>6/6/2026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A003DE9A-DE9E-4F9F-8A08-837CC26C1739}" type="slidenum">
              <a:rPr lang="en-US" smtClean="0"/>
              <a:t>‹#›</a:t>
            </a:fld>
            <a:endParaRPr lang="en-US"/>
          </a:p>
        </p:txBody>
      </p:sp>
    </p:spTree>
    <p:extLst>
      <p:ext uri="{BB962C8B-B14F-4D97-AF65-F5344CB8AC3E}">
        <p14:creationId xmlns:p14="http://schemas.microsoft.com/office/powerpoint/2010/main" val="3555475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9D5623E-A03C-43D5-AF92-9CD87997A196}" type="datetimeFigureOut">
              <a:rPr lang="en-US" smtClean="0"/>
              <a:t>6/6/2026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A003DE9A-DE9E-4F9F-8A08-837CC26C1739}" type="slidenum">
              <a:rPr lang="en-US" smtClean="0"/>
              <a:t>‹#›</a:t>
            </a:fld>
            <a:endParaRPr lang="en-US"/>
          </a:p>
        </p:txBody>
      </p:sp>
    </p:spTree>
    <p:extLst>
      <p:ext uri="{BB962C8B-B14F-4D97-AF65-F5344CB8AC3E}">
        <p14:creationId xmlns:p14="http://schemas.microsoft.com/office/powerpoint/2010/main" val="1215180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A9D5623E-A03C-43D5-AF92-9CD87997A196}" type="datetimeFigureOut">
              <a:rPr lang="en-US" smtClean="0"/>
              <a:t>6/6/2026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A003DE9A-DE9E-4F9F-8A08-837CC26C1739}" type="slidenum">
              <a:rPr lang="en-US" smtClean="0"/>
              <a:t>‹#›</a:t>
            </a:fld>
            <a:endParaRPr lang="en-US"/>
          </a:p>
        </p:txBody>
      </p:sp>
    </p:spTree>
    <p:extLst>
      <p:ext uri="{BB962C8B-B14F-4D97-AF65-F5344CB8AC3E}">
        <p14:creationId xmlns:p14="http://schemas.microsoft.com/office/powerpoint/2010/main" val="1666172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A9D5623E-A03C-43D5-AF92-9CD87997A196}" type="datetimeFigureOut">
              <a:rPr lang="en-US" smtClean="0"/>
              <a:t>6/6/2026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A003DE9A-DE9E-4F9F-8A08-837CC26C1739}" type="slidenum">
              <a:rPr lang="en-US" smtClean="0"/>
              <a:t>‹#›</a:t>
            </a:fld>
            <a:endParaRPr lang="en-US"/>
          </a:p>
        </p:txBody>
      </p:sp>
    </p:spTree>
    <p:extLst>
      <p:ext uri="{BB962C8B-B14F-4D97-AF65-F5344CB8AC3E}">
        <p14:creationId xmlns:p14="http://schemas.microsoft.com/office/powerpoint/2010/main" val="23695136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A9D5623E-A03C-43D5-AF92-9CD87997A196}" type="datetimeFigureOut">
              <a:rPr lang="en-US" smtClean="0"/>
              <a:t>6/6/2026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A003DE9A-DE9E-4F9F-8A08-837CC26C1739}" type="slidenum">
              <a:rPr lang="en-US" smtClean="0"/>
              <a:t>‹#›</a:t>
            </a:fld>
            <a:endParaRPr lang="en-US"/>
          </a:p>
        </p:txBody>
      </p:sp>
    </p:spTree>
    <p:extLst>
      <p:ext uri="{BB962C8B-B14F-4D97-AF65-F5344CB8AC3E}">
        <p14:creationId xmlns:p14="http://schemas.microsoft.com/office/powerpoint/2010/main" val="4161080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ITech Layout">
    <p:bg>
      <p:bgPr>
        <a:solidFill>
          <a:schemeClr val="bg1"/>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172794" y="0"/>
            <a:ext cx="1204062" cy="1195492"/>
          </a:xfrm>
          <a:prstGeom prst="rect">
            <a:avLst/>
          </a:prstGeom>
        </p:spPr>
      </p:pic>
      <p:pic>
        <p:nvPicPr>
          <p:cNvPr id="9" name="Picture 8"/>
          <p:cNvPicPr>
            <a:picLocks noChangeAspect="1"/>
          </p:cNvPicPr>
          <p:nvPr/>
        </p:nvPicPr>
        <p:blipFill>
          <a:blip r:embed="rId3"/>
          <a:stretch>
            <a:fillRect/>
          </a:stretch>
        </p:blipFill>
        <p:spPr>
          <a:xfrm>
            <a:off x="0" y="6284976"/>
            <a:ext cx="12192000" cy="573024"/>
          </a:xfrm>
          <a:prstGeom prst="rect">
            <a:avLst/>
          </a:prstGeom>
        </p:spPr>
      </p:pic>
    </p:spTree>
    <p:extLst>
      <p:ext uri="{BB962C8B-B14F-4D97-AF65-F5344CB8AC3E}">
        <p14:creationId xmlns:p14="http://schemas.microsoft.com/office/powerpoint/2010/main" val="18943369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9D5623E-A03C-43D5-AF92-9CD87997A196}" type="datetimeFigureOut">
              <a:rPr lang="en-US" smtClean="0"/>
              <a:t>6/6/2026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A003DE9A-DE9E-4F9F-8A08-837CC26C1739}" type="slidenum">
              <a:rPr lang="en-US" smtClean="0"/>
              <a:t>‹#›</a:t>
            </a:fld>
            <a:endParaRPr lang="en-US"/>
          </a:p>
        </p:txBody>
      </p:sp>
    </p:spTree>
    <p:extLst>
      <p:ext uri="{BB962C8B-B14F-4D97-AF65-F5344CB8AC3E}">
        <p14:creationId xmlns:p14="http://schemas.microsoft.com/office/powerpoint/2010/main" val="1529773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9D5623E-A03C-43D5-AF92-9CD87997A196}" type="datetimeFigureOut">
              <a:rPr lang="en-US" smtClean="0"/>
              <a:t>6/6/2026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A003DE9A-DE9E-4F9F-8A08-837CC26C1739}" type="slidenum">
              <a:rPr lang="en-US" smtClean="0"/>
              <a:t>‹#›</a:t>
            </a:fld>
            <a:endParaRPr lang="en-US"/>
          </a:p>
        </p:txBody>
      </p:sp>
    </p:spTree>
    <p:extLst>
      <p:ext uri="{BB962C8B-B14F-4D97-AF65-F5344CB8AC3E}">
        <p14:creationId xmlns:p14="http://schemas.microsoft.com/office/powerpoint/2010/main" val="2841292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9D5623E-A03C-43D5-AF92-9CD87997A196}" type="datetimeFigureOut">
              <a:rPr lang="en-US" smtClean="0"/>
              <a:t>6/6/2026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A003DE9A-DE9E-4F9F-8A08-837CC26C1739}" type="slidenum">
              <a:rPr lang="en-US" smtClean="0"/>
              <a:t>‹#›</a:t>
            </a:fld>
            <a:endParaRPr lang="en-US"/>
          </a:p>
        </p:txBody>
      </p:sp>
    </p:spTree>
    <p:extLst>
      <p:ext uri="{BB962C8B-B14F-4D97-AF65-F5344CB8AC3E}">
        <p14:creationId xmlns:p14="http://schemas.microsoft.com/office/powerpoint/2010/main" val="4806369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9D5623E-A03C-43D5-AF92-9CD87997A196}" type="datetimeFigureOut">
              <a:rPr lang="en-US" smtClean="0"/>
              <a:t>6/6/2026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A003DE9A-DE9E-4F9F-8A08-837CC26C1739}" type="slidenum">
              <a:rPr lang="en-US" smtClean="0"/>
              <a:t>‹#›</a:t>
            </a:fld>
            <a:endParaRPr lang="en-US"/>
          </a:p>
        </p:txBody>
      </p:sp>
    </p:spTree>
    <p:extLst>
      <p:ext uri="{BB962C8B-B14F-4D97-AF65-F5344CB8AC3E}">
        <p14:creationId xmlns:p14="http://schemas.microsoft.com/office/powerpoint/2010/main" val="39021626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CITech Layout">
    <p:bg>
      <p:bgPr>
        <a:solidFill>
          <a:schemeClr val="bg1"/>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172794" y="0"/>
            <a:ext cx="1204062" cy="1195492"/>
          </a:xfrm>
          <a:prstGeom prst="rect">
            <a:avLst/>
          </a:prstGeom>
        </p:spPr>
      </p:pic>
      <p:pic>
        <p:nvPicPr>
          <p:cNvPr id="8" name="Picture 7"/>
          <p:cNvPicPr>
            <a:picLocks noChangeAspect="1"/>
          </p:cNvPicPr>
          <p:nvPr/>
        </p:nvPicPr>
        <p:blipFill>
          <a:blip r:embed="rId3"/>
          <a:stretch>
            <a:fillRect/>
          </a:stretch>
        </p:blipFill>
        <p:spPr>
          <a:xfrm>
            <a:off x="1768951" y="420612"/>
            <a:ext cx="5139373" cy="768163"/>
          </a:xfrm>
          <a:prstGeom prst="rect">
            <a:avLst/>
          </a:prstGeom>
        </p:spPr>
      </p:pic>
      <p:pic>
        <p:nvPicPr>
          <p:cNvPr id="9" name="Picture 8"/>
          <p:cNvPicPr>
            <a:picLocks noChangeAspect="1"/>
          </p:cNvPicPr>
          <p:nvPr/>
        </p:nvPicPr>
        <p:blipFill>
          <a:blip r:embed="rId4"/>
          <a:stretch>
            <a:fillRect/>
          </a:stretch>
        </p:blipFill>
        <p:spPr>
          <a:xfrm>
            <a:off x="0" y="6284976"/>
            <a:ext cx="12192000" cy="573024"/>
          </a:xfrm>
          <a:prstGeom prst="rect">
            <a:avLst/>
          </a:prstGeom>
        </p:spPr>
      </p:pic>
    </p:spTree>
    <p:extLst>
      <p:ext uri="{BB962C8B-B14F-4D97-AF65-F5344CB8AC3E}">
        <p14:creationId xmlns:p14="http://schemas.microsoft.com/office/powerpoint/2010/main" val="788346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5"/>
          <a:stretch>
            <a:fillRect/>
          </a:stretch>
        </p:blipFill>
        <p:spPr>
          <a:xfrm>
            <a:off x="172794" y="0"/>
            <a:ext cx="1204062" cy="1195492"/>
          </a:xfrm>
          <a:prstGeom prst="rect">
            <a:avLst/>
          </a:prstGeom>
        </p:spPr>
      </p:pic>
      <p:pic>
        <p:nvPicPr>
          <p:cNvPr id="8" name="Picture 7"/>
          <p:cNvPicPr>
            <a:picLocks noChangeAspect="1"/>
          </p:cNvPicPr>
          <p:nvPr/>
        </p:nvPicPr>
        <p:blipFill>
          <a:blip r:embed="rId16"/>
          <a:stretch>
            <a:fillRect/>
          </a:stretch>
        </p:blipFill>
        <p:spPr>
          <a:xfrm>
            <a:off x="0" y="6284976"/>
            <a:ext cx="12192000" cy="573024"/>
          </a:xfrm>
          <a:prstGeom prst="rect">
            <a:avLst/>
          </a:prstGeom>
        </p:spPr>
      </p:pic>
      <p:pic>
        <p:nvPicPr>
          <p:cNvPr id="9" name="Picture 8"/>
          <p:cNvPicPr>
            <a:picLocks noChangeAspect="1"/>
          </p:cNvPicPr>
          <p:nvPr/>
        </p:nvPicPr>
        <p:blipFill>
          <a:blip r:embed="rId17"/>
          <a:stretch>
            <a:fillRect/>
          </a:stretch>
        </p:blipFill>
        <p:spPr>
          <a:xfrm>
            <a:off x="1527219" y="420612"/>
            <a:ext cx="5139373" cy="768163"/>
          </a:xfrm>
          <a:prstGeom prst="rect">
            <a:avLst/>
          </a:prstGeom>
        </p:spPr>
      </p:pic>
    </p:spTree>
    <p:extLst>
      <p:ext uri="{BB962C8B-B14F-4D97-AF65-F5344CB8AC3E}">
        <p14:creationId xmlns:p14="http://schemas.microsoft.com/office/powerpoint/2010/main" val="20721896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9830" y="0"/>
            <a:ext cx="12192000" cy="6858000"/>
          </a:xfrm>
          <a:prstGeom prst="rect">
            <a:avLst/>
          </a:prstGeom>
          <a:solidFill>
            <a:srgbClr val="000A30"/>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IN" dirty="0"/>
          </a:p>
        </p:txBody>
      </p:sp>
      <p:sp>
        <p:nvSpPr>
          <p:cNvPr id="15363" name="TextBox 5"/>
          <p:cNvSpPr txBox="1">
            <a:spLocks noChangeArrowheads="1"/>
          </p:cNvSpPr>
          <p:nvPr/>
        </p:nvSpPr>
        <p:spPr bwMode="auto">
          <a:xfrm>
            <a:off x="5005165" y="6358335"/>
            <a:ext cx="2543610" cy="381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IN" dirty="0">
                <a:solidFill>
                  <a:schemeClr val="bg1"/>
                </a:solidFill>
              </a:rPr>
              <a:t>www.cambridge.edu.in</a:t>
            </a:r>
          </a:p>
        </p:txBody>
      </p:sp>
      <p:pic>
        <p:nvPicPr>
          <p:cNvPr id="10" name="Picture Placeholder 8"/>
          <p:cNvPicPr>
            <a:picLocks noChangeAspect="1"/>
          </p:cNvPicPr>
          <p:nvPr/>
        </p:nvPicPr>
        <p:blipFill rotWithShape="1">
          <a:blip r:embed="rId2" cstate="print">
            <a:extLst>
              <a:ext uri="{28A0092B-C50C-407E-A947-70E740481C1C}">
                <a14:useLocalDpi xmlns:a14="http://schemas.microsoft.com/office/drawing/2010/main" val="0"/>
              </a:ext>
            </a:extLst>
          </a:blip>
          <a:srcRect l="61" t="-110" r="36201" b="2740"/>
          <a:stretch/>
        </p:blipFill>
        <p:spPr>
          <a:xfrm>
            <a:off x="6334433" y="848261"/>
            <a:ext cx="5867400" cy="6009740"/>
          </a:xfrm>
          <a:custGeom>
            <a:avLst/>
            <a:gdLst>
              <a:gd name="connsiteX0" fmla="*/ 5919758 w 5919758"/>
              <a:gd name="connsiteY0" fmla="*/ 0 h 5825419"/>
              <a:gd name="connsiteX1" fmla="*/ 5919758 w 5919758"/>
              <a:gd name="connsiteY1" fmla="*/ 5825419 h 5825419"/>
              <a:gd name="connsiteX2" fmla="*/ 1120273 w 5919758"/>
              <a:gd name="connsiteY2" fmla="*/ 5825419 h 5825419"/>
              <a:gd name="connsiteX3" fmla="*/ 0 w 5919758"/>
              <a:gd name="connsiteY3" fmla="*/ 1588036 h 5825419"/>
            </a:gdLst>
            <a:ahLst/>
            <a:cxnLst>
              <a:cxn ang="0">
                <a:pos x="connsiteX0" y="connsiteY0"/>
              </a:cxn>
              <a:cxn ang="0">
                <a:pos x="connsiteX1" y="connsiteY1"/>
              </a:cxn>
              <a:cxn ang="0">
                <a:pos x="connsiteX2" y="connsiteY2"/>
              </a:cxn>
              <a:cxn ang="0">
                <a:pos x="connsiteX3" y="connsiteY3"/>
              </a:cxn>
            </a:cxnLst>
            <a:rect l="l" t="t" r="r" b="b"/>
            <a:pathLst>
              <a:path w="5919758" h="5825419">
                <a:moveTo>
                  <a:pt x="5919758" y="0"/>
                </a:moveTo>
                <a:lnTo>
                  <a:pt x="5919758" y="5825419"/>
                </a:lnTo>
                <a:lnTo>
                  <a:pt x="1120273" y="5825419"/>
                </a:lnTo>
                <a:lnTo>
                  <a:pt x="0" y="1588036"/>
                </a:lnTo>
                <a:close/>
              </a:path>
            </a:pathLst>
          </a:custGeom>
        </p:spPr>
      </p:pic>
      <p:sp>
        <p:nvSpPr>
          <p:cNvPr id="11" name="Title 6"/>
          <p:cNvSpPr>
            <a:spLocks noGrp="1"/>
          </p:cNvSpPr>
          <p:nvPr>
            <p:ph type="ctrTitle"/>
          </p:nvPr>
        </p:nvSpPr>
        <p:spPr>
          <a:xfrm>
            <a:off x="1216490" y="5248275"/>
            <a:ext cx="5117179" cy="762000"/>
          </a:xfrm>
        </p:spPr>
        <p:txBody>
          <a:bodyPr>
            <a:normAutofit/>
          </a:bodyPr>
          <a:lstStyle/>
          <a:p>
            <a:pPr algn="l">
              <a:defRPr/>
            </a:pPr>
            <a:r>
              <a:rPr lang="en-US" sz="2400" i="1" dirty="0">
                <a:solidFill>
                  <a:schemeClr val="bg1"/>
                </a:solidFill>
              </a:rPr>
              <a:t>Department of</a:t>
            </a:r>
            <a:br>
              <a:rPr lang="en-US" sz="2400" dirty="0">
                <a:solidFill>
                  <a:schemeClr val="bg1"/>
                </a:solidFill>
              </a:rPr>
            </a:br>
            <a:r>
              <a:rPr lang="en-US" sz="2400" dirty="0">
                <a:solidFill>
                  <a:schemeClr val="bg1"/>
                </a:solidFill>
              </a:rPr>
              <a:t>Computer Science &amp; Engineering</a:t>
            </a:r>
            <a:endParaRPr lang="en-IN" sz="2400" dirty="0">
              <a:solidFill>
                <a:schemeClr val="bg1"/>
              </a:solidFill>
            </a:endParaRPr>
          </a:p>
        </p:txBody>
      </p:sp>
      <p:sp>
        <p:nvSpPr>
          <p:cNvPr id="12" name="Rectangle 11"/>
          <p:cNvSpPr/>
          <p:nvPr/>
        </p:nvSpPr>
        <p:spPr>
          <a:xfrm>
            <a:off x="1308576" y="5056188"/>
            <a:ext cx="901817" cy="63500"/>
          </a:xfrm>
          <a:prstGeom prst="rect">
            <a:avLst/>
          </a:prstGeom>
          <a:solidFill>
            <a:srgbClr val="00A1D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pic>
        <p:nvPicPr>
          <p:cNvPr id="15367"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18000" y="211138"/>
            <a:ext cx="2465709" cy="158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itle 8"/>
          <p:cNvSpPr txBox="1">
            <a:spLocks/>
          </p:cNvSpPr>
          <p:nvPr/>
        </p:nvSpPr>
        <p:spPr>
          <a:xfrm>
            <a:off x="9834" y="2601915"/>
            <a:ext cx="6617108" cy="2201728"/>
          </a:xfrm>
          <a:prstGeom prst="rect">
            <a:avLst/>
          </a:prstGeom>
        </p:spPr>
        <p:txBody>
          <a:bodyPr anchor="b"/>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defRPr/>
            </a:pPr>
            <a:r>
              <a:rPr lang="en-US" sz="2400" b="1" dirty="0">
                <a:solidFill>
                  <a:srgbClr val="00A1DA"/>
                </a:solidFill>
                <a:latin typeface="+mn-lt"/>
              </a:rPr>
              <a:t>Project Presentation</a:t>
            </a:r>
          </a:p>
          <a:p>
            <a:pPr>
              <a:defRPr/>
            </a:pPr>
            <a:r>
              <a:rPr lang="en-US" sz="1600" b="1" dirty="0">
                <a:solidFill>
                  <a:srgbClr val="00A1DA"/>
                </a:solidFill>
                <a:latin typeface="+mn-lt"/>
              </a:rPr>
              <a:t>On</a:t>
            </a:r>
          </a:p>
          <a:p>
            <a:pPr>
              <a:defRPr/>
            </a:pPr>
            <a:r>
              <a:rPr lang="en-IN" sz="2400" b="1" dirty="0">
                <a:solidFill>
                  <a:srgbClr val="FF0000"/>
                </a:solidFill>
              </a:rPr>
              <a:t>Assistive System for Blind People</a:t>
            </a:r>
            <a:endParaRPr lang="en-US" sz="2400" b="1" dirty="0">
              <a:solidFill>
                <a:srgbClr val="FF0000"/>
              </a:solidFill>
            </a:endParaRPr>
          </a:p>
          <a:p>
            <a:pPr>
              <a:defRPr/>
            </a:pPr>
            <a:r>
              <a:rPr lang="en-US" sz="1600" dirty="0">
                <a:solidFill>
                  <a:srgbClr val="00A1DA"/>
                </a:solidFill>
                <a:latin typeface="+mn-lt"/>
              </a:rPr>
              <a:t>By</a:t>
            </a:r>
          </a:p>
          <a:p>
            <a:pPr>
              <a:defRPr/>
            </a:pPr>
            <a:r>
              <a:rPr lang="en-US" sz="2000" b="1" dirty="0">
                <a:solidFill>
                  <a:schemeClr val="accent6">
                    <a:lumMod val="20000"/>
                    <a:lumOff val="80000"/>
                  </a:schemeClr>
                </a:solidFill>
              </a:rPr>
              <a:t>Koyal </a:t>
            </a:r>
            <a:r>
              <a:rPr lang="en-US" sz="2000" b="1" dirty="0" err="1">
                <a:solidFill>
                  <a:schemeClr val="accent6">
                    <a:lumMod val="20000"/>
                    <a:lumOff val="80000"/>
                  </a:schemeClr>
                </a:solidFill>
              </a:rPr>
              <a:t>Kaveramma</a:t>
            </a:r>
            <a:r>
              <a:rPr lang="en-US" sz="2000" b="1" dirty="0">
                <a:solidFill>
                  <a:schemeClr val="accent6">
                    <a:lumMod val="20000"/>
                    <a:lumOff val="80000"/>
                  </a:schemeClr>
                </a:solidFill>
              </a:rPr>
              <a:t> K G (1CD23CS075)</a:t>
            </a:r>
          </a:p>
          <a:p>
            <a:pPr>
              <a:defRPr/>
            </a:pPr>
            <a:r>
              <a:rPr lang="en-US" sz="2000" b="1" dirty="0" err="1">
                <a:solidFill>
                  <a:schemeClr val="accent6">
                    <a:lumMod val="20000"/>
                    <a:lumOff val="80000"/>
                  </a:schemeClr>
                </a:solidFill>
              </a:rPr>
              <a:t>Nagapriya</a:t>
            </a:r>
            <a:r>
              <a:rPr lang="en-US" sz="2000" b="1" dirty="0">
                <a:solidFill>
                  <a:schemeClr val="accent6">
                    <a:lumMod val="20000"/>
                    <a:lumOff val="80000"/>
                  </a:schemeClr>
                </a:solidFill>
              </a:rPr>
              <a:t> (1CD23CS100)</a:t>
            </a:r>
            <a:endParaRPr lang="en-US" sz="2000" b="1" dirty="0">
              <a:solidFill>
                <a:schemeClr val="accent6">
                  <a:lumMod val="20000"/>
                  <a:lumOff val="80000"/>
                </a:schemeClr>
              </a:solidFill>
              <a:latin typeface="+mn-lt"/>
            </a:endParaRPr>
          </a:p>
          <a:p>
            <a:pPr>
              <a:defRPr/>
            </a:pPr>
            <a:r>
              <a:rPr lang="en-US" sz="2000" b="1" dirty="0">
                <a:solidFill>
                  <a:schemeClr val="accent6">
                    <a:lumMod val="20000"/>
                    <a:lumOff val="80000"/>
                  </a:schemeClr>
                </a:solidFill>
              </a:rPr>
              <a:t>Priyanka V (1CD23CS122)</a:t>
            </a:r>
          </a:p>
          <a:p>
            <a:pPr>
              <a:defRPr/>
            </a:pPr>
            <a:endParaRPr lang="en-US" sz="2400" b="1" i="1" dirty="0">
              <a:solidFill>
                <a:schemeClr val="accent6">
                  <a:lumMod val="20000"/>
                  <a:lumOff val="80000"/>
                </a:schemeClr>
              </a:solidFill>
              <a:latin typeface="+mn-lt"/>
            </a:endParaRPr>
          </a:p>
          <a:p>
            <a:pPr>
              <a:defRPr/>
            </a:pPr>
            <a:r>
              <a:rPr lang="en-US" sz="1600" b="1" dirty="0">
                <a:solidFill>
                  <a:srgbClr val="00A1DA"/>
                </a:solidFill>
                <a:latin typeface="+mn-lt"/>
              </a:rPr>
              <a:t>Under the Guidance of </a:t>
            </a:r>
          </a:p>
          <a:p>
            <a:pPr>
              <a:defRPr/>
            </a:pPr>
            <a:r>
              <a:rPr lang="en-US" sz="2000" b="1" dirty="0">
                <a:solidFill>
                  <a:schemeClr val="accent4">
                    <a:lumMod val="60000"/>
                    <a:lumOff val="40000"/>
                  </a:schemeClr>
                </a:solidFill>
                <a:latin typeface="+mn-lt"/>
              </a:rPr>
              <a:t>Prof.  </a:t>
            </a:r>
            <a:r>
              <a:rPr lang="en-US" sz="2000" b="1" dirty="0" err="1">
                <a:solidFill>
                  <a:schemeClr val="accent4">
                    <a:lumMod val="60000"/>
                    <a:lumOff val="40000"/>
                  </a:schemeClr>
                </a:solidFill>
                <a:latin typeface="+mn-lt"/>
              </a:rPr>
              <a:t>Swathy</a:t>
            </a:r>
            <a:r>
              <a:rPr lang="en-US" sz="2000" b="1" dirty="0">
                <a:solidFill>
                  <a:schemeClr val="accent4">
                    <a:lumMod val="60000"/>
                    <a:lumOff val="40000"/>
                  </a:schemeClr>
                </a:solidFill>
                <a:latin typeface="+mn-lt"/>
              </a:rPr>
              <a:t> J</a:t>
            </a:r>
            <a:endParaRPr lang="en-US" sz="1600" b="1" dirty="0">
              <a:solidFill>
                <a:srgbClr val="00A1DA"/>
              </a:solidFill>
              <a:latin typeface="+mn-lt"/>
            </a:endParaRPr>
          </a:p>
        </p:txBody>
      </p:sp>
    </p:spTree>
    <p:extLst>
      <p:ext uri="{BB962C8B-B14F-4D97-AF65-F5344CB8AC3E}">
        <p14:creationId xmlns:p14="http://schemas.microsoft.com/office/powerpoint/2010/main" val="3888714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2AE7F8-0DF4-2E84-864D-71C34A17974C}"/>
              </a:ext>
            </a:extLst>
          </p:cNvPr>
          <p:cNvSpPr txBox="1"/>
          <p:nvPr/>
        </p:nvSpPr>
        <p:spPr>
          <a:xfrm>
            <a:off x="2010103" y="2467303"/>
            <a:ext cx="7835463" cy="646331"/>
          </a:xfrm>
          <a:prstGeom prst="rect">
            <a:avLst/>
          </a:prstGeom>
          <a:noFill/>
        </p:spPr>
        <p:txBody>
          <a:bodyPr wrap="square" rtlCol="0">
            <a:spAutoFit/>
          </a:bodyPr>
          <a:lstStyle/>
          <a:p>
            <a:pPr algn="ctr"/>
            <a:r>
              <a:rPr lang="en-US" sz="3600" dirty="0">
                <a:latin typeface="Times New Roman" panose="02020603050405020304" pitchFamily="18" charset="0"/>
                <a:cs typeface="Times New Roman" panose="02020603050405020304" pitchFamily="18" charset="0"/>
              </a:rPr>
              <a:t>Assistive System for Blind People</a:t>
            </a:r>
          </a:p>
        </p:txBody>
      </p:sp>
    </p:spTree>
    <p:extLst>
      <p:ext uri="{BB962C8B-B14F-4D97-AF65-F5344CB8AC3E}">
        <p14:creationId xmlns:p14="http://schemas.microsoft.com/office/powerpoint/2010/main" val="192648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2562364" y="339662"/>
            <a:ext cx="7067271" cy="1044524"/>
          </a:xfrm>
        </p:spPr>
        <p:txBody>
          <a:bodyPr>
            <a:normAutofit/>
          </a:bodyPr>
          <a:lstStyle/>
          <a:p>
            <a:r>
              <a:rPr lang="en-US" sz="4000" b="1" dirty="0">
                <a:latin typeface="Times New Roman" pitchFamily="18" charset="0"/>
                <a:cs typeface="Times New Roman" pitchFamily="18" charset="0"/>
              </a:rPr>
              <a:t>Contents</a:t>
            </a:r>
          </a:p>
        </p:txBody>
      </p:sp>
      <p:sp>
        <p:nvSpPr>
          <p:cNvPr id="5" name="Content Placeholder 4">
            <a:extLst>
              <a:ext uri="{FF2B5EF4-FFF2-40B4-BE49-F238E27FC236}">
                <a16:creationId xmlns:a16="http://schemas.microsoft.com/office/drawing/2014/main" id="{78C41660-C051-A748-95D5-B5D26201F9D6}"/>
              </a:ext>
            </a:extLst>
          </p:cNvPr>
          <p:cNvSpPr>
            <a:spLocks noGrp="1"/>
          </p:cNvSpPr>
          <p:nvPr>
            <p:ph sz="half" idx="1"/>
          </p:nvPr>
        </p:nvSpPr>
        <p:spPr>
          <a:xfrm>
            <a:off x="317552" y="1384186"/>
            <a:ext cx="10500360" cy="4434839"/>
          </a:xfrm>
        </p:spPr>
        <p:txBody>
          <a:bodyPr>
            <a:normAutofit lnSpcReduction="10000"/>
          </a:bodyPr>
          <a:lstStyle/>
          <a:p>
            <a:pPr lvl="0"/>
            <a:r>
              <a:rPr lang="en-IN" dirty="0">
                <a:latin typeface="Times New Roman" panose="02020603050405020304" pitchFamily="18" charset="0"/>
                <a:cs typeface="Times New Roman" panose="02020603050405020304" pitchFamily="18" charset="0"/>
              </a:rPr>
              <a:t>Introduction </a:t>
            </a:r>
          </a:p>
          <a:p>
            <a:pPr lvl="0"/>
            <a:r>
              <a:rPr lang="en-IN" dirty="0">
                <a:latin typeface="Times New Roman" panose="02020603050405020304" pitchFamily="18" charset="0"/>
                <a:cs typeface="Times New Roman" panose="02020603050405020304" pitchFamily="18" charset="0"/>
              </a:rPr>
              <a:t>Problem statement</a:t>
            </a:r>
          </a:p>
          <a:p>
            <a:pPr lvl="0"/>
            <a:r>
              <a:rPr lang="en-IN" dirty="0">
                <a:latin typeface="Times New Roman" panose="02020603050405020304" pitchFamily="18" charset="0"/>
                <a:cs typeface="Times New Roman" panose="02020603050405020304" pitchFamily="18" charset="0"/>
              </a:rPr>
              <a:t>Identified Objectives</a:t>
            </a:r>
          </a:p>
          <a:p>
            <a:pPr lvl="0"/>
            <a:r>
              <a:rPr lang="en-IN" dirty="0">
                <a:latin typeface="Times New Roman" panose="02020603050405020304" pitchFamily="18" charset="0"/>
                <a:cs typeface="Times New Roman" panose="02020603050405020304" pitchFamily="18" charset="0"/>
              </a:rPr>
              <a:t>Literature  Survey</a:t>
            </a:r>
          </a:p>
          <a:p>
            <a:pPr lvl="0"/>
            <a:r>
              <a:rPr lang="en-IN" dirty="0">
                <a:latin typeface="Times New Roman" panose="02020603050405020304" pitchFamily="18" charset="0"/>
                <a:cs typeface="Times New Roman" panose="02020603050405020304" pitchFamily="18" charset="0"/>
              </a:rPr>
              <a:t>Research Gap</a:t>
            </a:r>
          </a:p>
          <a:p>
            <a:pPr lvl="0"/>
            <a:r>
              <a:rPr lang="en-IN" dirty="0">
                <a:latin typeface="Times New Roman" panose="02020603050405020304" pitchFamily="18" charset="0"/>
                <a:cs typeface="Times New Roman" panose="02020603050405020304" pitchFamily="18" charset="0"/>
              </a:rPr>
              <a:t>System Architecture</a:t>
            </a:r>
          </a:p>
          <a:p>
            <a:pPr lvl="0"/>
            <a:r>
              <a:rPr lang="en-IN" dirty="0">
                <a:latin typeface="Times New Roman" panose="02020603050405020304" pitchFamily="18" charset="0"/>
                <a:cs typeface="Times New Roman" panose="02020603050405020304" pitchFamily="18" charset="0"/>
              </a:rPr>
              <a:t>Application/Use Cases</a:t>
            </a:r>
          </a:p>
          <a:p>
            <a:pPr lvl="0"/>
            <a:r>
              <a:rPr lang="en-IN" dirty="0">
                <a:latin typeface="Times New Roman" panose="02020603050405020304" pitchFamily="18" charset="0"/>
                <a:cs typeface="Times New Roman" panose="02020603050405020304" pitchFamily="18" charset="0"/>
              </a:rPr>
              <a:t>Expected Deliverables in phase1 and phase 2 </a:t>
            </a:r>
          </a:p>
          <a:p>
            <a:pPr lvl="0"/>
            <a:r>
              <a:rPr lang="en-IN" dirty="0">
                <a:latin typeface="Times New Roman" panose="02020603050405020304" pitchFamily="18" charset="0"/>
                <a:cs typeface="Times New Roman" panose="02020603050405020304" pitchFamily="18" charset="0"/>
              </a:rPr>
              <a:t>References</a:t>
            </a:r>
          </a:p>
          <a:p>
            <a:pPr marL="0" lvl="0" indent="0">
              <a:buNone/>
            </a:pPr>
            <a:endParaRPr lang="en-IN"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563490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2458065" y="380639"/>
            <a:ext cx="7067271" cy="1044524"/>
          </a:xfrm>
        </p:spPr>
        <p:txBody>
          <a:bodyPr>
            <a:normAutofit/>
          </a:bodyPr>
          <a:lstStyle/>
          <a:p>
            <a:r>
              <a:rPr lang="en-US" sz="4000" b="1" dirty="0">
                <a:latin typeface="Times New Roman" pitchFamily="18" charset="0"/>
                <a:cs typeface="Times New Roman" pitchFamily="18" charset="0"/>
              </a:rPr>
              <a:t>Introduction</a:t>
            </a:r>
          </a:p>
        </p:txBody>
      </p:sp>
      <p:sp>
        <p:nvSpPr>
          <p:cNvPr id="2" name="TextBox 1">
            <a:extLst>
              <a:ext uri="{FF2B5EF4-FFF2-40B4-BE49-F238E27FC236}">
                <a16:creationId xmlns:a16="http://schemas.microsoft.com/office/drawing/2014/main" id="{31A12313-8F44-58C1-2F6E-0F0D264C6633}"/>
              </a:ext>
            </a:extLst>
          </p:cNvPr>
          <p:cNvSpPr txBox="1"/>
          <p:nvPr/>
        </p:nvSpPr>
        <p:spPr>
          <a:xfrm>
            <a:off x="427703" y="1492339"/>
            <a:ext cx="11336593" cy="4708981"/>
          </a:xfrm>
          <a:prstGeom prst="rect">
            <a:avLst/>
          </a:prstGeom>
          <a:noFill/>
        </p:spPr>
        <p:txBody>
          <a:bodyPr wrap="square" rtlCol="0">
            <a:spAutoFit/>
          </a:bodyPr>
          <a:lstStyle/>
          <a:p>
            <a:r>
              <a:rPr lang="en-US" sz="2000" dirty="0"/>
              <a:t>Visual impairment is a serious global issue that affects millions of people, limiting their ability to move freely and perform daily activities independently. Navigation is one of the biggest challenges, especially in crowded or unfamiliar environments.</a:t>
            </a:r>
          </a:p>
          <a:p>
            <a:r>
              <a:rPr lang="en-US" sz="2000" dirty="0"/>
              <a:t>Traditional tools like white canes:</a:t>
            </a:r>
          </a:p>
          <a:p>
            <a:pPr marL="342900" indent="-342900">
              <a:buFont typeface="Arial" panose="020B0604020202020204" pitchFamily="34" charset="0"/>
              <a:buChar char="•"/>
            </a:pPr>
            <a:r>
              <a:rPr lang="en-US" sz="2000" dirty="0"/>
              <a:t>Detect only nearby obstacles </a:t>
            </a:r>
          </a:p>
          <a:p>
            <a:pPr marL="342900" indent="-342900">
              <a:buFont typeface="Arial" panose="020B0604020202020204" pitchFamily="34" charset="0"/>
              <a:buChar char="•"/>
            </a:pPr>
            <a:r>
              <a:rPr lang="en-US" sz="2000" dirty="0"/>
              <a:t>Cannot identify objects </a:t>
            </a:r>
          </a:p>
          <a:p>
            <a:pPr marL="342900" indent="-342900">
              <a:buFont typeface="Arial" panose="020B0604020202020204" pitchFamily="34" charset="0"/>
              <a:buChar char="•"/>
            </a:pPr>
            <a:r>
              <a:rPr lang="en-US" sz="2000" dirty="0"/>
              <a:t>Provide no navigation support </a:t>
            </a:r>
          </a:p>
          <a:p>
            <a:endParaRPr lang="en-US" sz="2000" dirty="0"/>
          </a:p>
          <a:p>
            <a:r>
              <a:rPr lang="en-US" sz="2000" dirty="0"/>
              <a:t>With advancements in:</a:t>
            </a:r>
          </a:p>
          <a:p>
            <a:pPr marL="342900" indent="-342900">
              <a:buFont typeface="Arial" panose="020B0604020202020204" pitchFamily="34" charset="0"/>
              <a:buChar char="•"/>
            </a:pPr>
            <a:r>
              <a:rPr lang="en-US" sz="2000" dirty="0"/>
              <a:t>Artificial Intelligence (AI) </a:t>
            </a:r>
          </a:p>
          <a:p>
            <a:pPr marL="342900" indent="-342900">
              <a:buFont typeface="Arial" panose="020B0604020202020204" pitchFamily="34" charset="0"/>
              <a:buChar char="•"/>
            </a:pPr>
            <a:r>
              <a:rPr lang="en-US" sz="2000" dirty="0"/>
              <a:t>Internet of Things (IoT) </a:t>
            </a:r>
          </a:p>
          <a:p>
            <a:pPr marL="342900" indent="-342900">
              <a:buFont typeface="Arial" panose="020B0604020202020204" pitchFamily="34" charset="0"/>
              <a:buChar char="•"/>
            </a:pPr>
            <a:r>
              <a:rPr lang="en-US" sz="2000" dirty="0"/>
              <a:t>Computer Vision </a:t>
            </a:r>
          </a:p>
          <a:p>
            <a:endParaRPr lang="en-US" sz="2000" dirty="0"/>
          </a:p>
          <a:p>
            <a:r>
              <a:rPr lang="en-US" sz="2000" dirty="0"/>
              <a:t>it is now possible to develop </a:t>
            </a:r>
            <a:r>
              <a:rPr lang="en-US" sz="2000" b="1" dirty="0"/>
              <a:t>smart assistive systems</a:t>
            </a:r>
            <a:r>
              <a:rPr lang="en-US" sz="2000" dirty="0"/>
              <a:t> that provide real-time guidance and improve safety.</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4296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2552532" y="565804"/>
            <a:ext cx="7067271" cy="1044524"/>
          </a:xfrm>
        </p:spPr>
        <p:txBody>
          <a:bodyPr>
            <a:normAutofit/>
          </a:bodyPr>
          <a:lstStyle/>
          <a:p>
            <a:r>
              <a:rPr lang="en-US" sz="4000" b="1" dirty="0">
                <a:latin typeface="Times New Roman" pitchFamily="18" charset="0"/>
                <a:cs typeface="Times New Roman" pitchFamily="18" charset="0"/>
              </a:rPr>
              <a:t>Introduction(</a:t>
            </a:r>
            <a:r>
              <a:rPr lang="en-US" sz="4000" b="1" dirty="0" err="1">
                <a:latin typeface="Times New Roman" pitchFamily="18" charset="0"/>
                <a:cs typeface="Times New Roman" pitchFamily="18" charset="0"/>
              </a:rPr>
              <a:t>Cont</a:t>
            </a:r>
            <a:r>
              <a:rPr lang="en-US" sz="4000" b="1" dirty="0">
                <a:latin typeface="Times New Roman" pitchFamily="18" charset="0"/>
                <a:cs typeface="Times New Roman" pitchFamily="18" charset="0"/>
              </a:rPr>
              <a:t>…)</a:t>
            </a:r>
          </a:p>
        </p:txBody>
      </p:sp>
      <p:sp>
        <p:nvSpPr>
          <p:cNvPr id="2" name="TextBox 1">
            <a:extLst>
              <a:ext uri="{FF2B5EF4-FFF2-40B4-BE49-F238E27FC236}">
                <a16:creationId xmlns:a16="http://schemas.microsoft.com/office/drawing/2014/main" id="{DEAAFB7C-9098-DDFA-0EA7-B294E33F38AB}"/>
              </a:ext>
            </a:extLst>
          </p:cNvPr>
          <p:cNvSpPr txBox="1"/>
          <p:nvPr/>
        </p:nvSpPr>
        <p:spPr>
          <a:xfrm>
            <a:off x="344128" y="1317523"/>
            <a:ext cx="11503742" cy="5632311"/>
          </a:xfrm>
          <a:prstGeom prst="rect">
            <a:avLst/>
          </a:prstGeom>
          <a:noFill/>
        </p:spPr>
        <p:txBody>
          <a:bodyPr wrap="square" rtlCol="0">
            <a:spAutoFit/>
          </a:bodyPr>
          <a:lstStyle/>
          <a:p>
            <a:r>
              <a:rPr lang="en-US" sz="2000" dirty="0"/>
              <a:t>The proposed system aims to overcome these limitations by designing an </a:t>
            </a:r>
            <a:r>
              <a:rPr lang="en-US" sz="2000" b="1" dirty="0"/>
              <a:t>intelligent assistive solution</a:t>
            </a:r>
            <a:r>
              <a:rPr lang="en-US" sz="2000" dirty="0"/>
              <a:t> that combines multiple technologies.</a:t>
            </a:r>
          </a:p>
          <a:p>
            <a:r>
              <a:rPr lang="en-US" sz="2000" dirty="0"/>
              <a:t>Key components of the system include:</a:t>
            </a:r>
          </a:p>
          <a:p>
            <a:pPr marL="342900" indent="-342900">
              <a:buFont typeface="Arial" panose="020B0604020202020204" pitchFamily="34" charset="0"/>
              <a:buChar char="•"/>
            </a:pPr>
            <a:r>
              <a:rPr lang="en-US" sz="2000" b="1" dirty="0"/>
              <a:t>Ultrasonic Sensors</a:t>
            </a:r>
            <a:r>
              <a:rPr lang="en-US" sz="2000" dirty="0"/>
              <a:t> for obstacle detection </a:t>
            </a:r>
          </a:p>
          <a:p>
            <a:pPr marL="342900" indent="-342900">
              <a:buFont typeface="Arial" panose="020B0604020202020204" pitchFamily="34" charset="0"/>
              <a:buChar char="•"/>
            </a:pPr>
            <a:r>
              <a:rPr lang="en-US" sz="2000" b="1" dirty="0"/>
              <a:t>Camera Module</a:t>
            </a:r>
            <a:r>
              <a:rPr lang="en-US" sz="2000" dirty="0"/>
              <a:t> for object recognition </a:t>
            </a:r>
          </a:p>
          <a:p>
            <a:pPr marL="342900" indent="-342900">
              <a:buFont typeface="Arial" panose="020B0604020202020204" pitchFamily="34" charset="0"/>
              <a:buChar char="•"/>
            </a:pPr>
            <a:r>
              <a:rPr lang="en-US" sz="2000" b="1" dirty="0"/>
              <a:t>Microcontroller (Arduino/Raspberry Pi)</a:t>
            </a:r>
            <a:r>
              <a:rPr lang="en-US" sz="2000" dirty="0"/>
              <a:t> for processing </a:t>
            </a:r>
          </a:p>
          <a:p>
            <a:pPr marL="342900" indent="-342900">
              <a:buFont typeface="Arial" panose="020B0604020202020204" pitchFamily="34" charset="0"/>
              <a:buChar char="•"/>
            </a:pPr>
            <a:r>
              <a:rPr lang="en-US" sz="2000" b="1" dirty="0"/>
              <a:t>GPS Module</a:t>
            </a:r>
            <a:r>
              <a:rPr lang="en-US" sz="2000" dirty="0"/>
              <a:t> for real-time location tracking </a:t>
            </a:r>
          </a:p>
          <a:p>
            <a:pPr marL="342900" indent="-342900">
              <a:buFont typeface="Arial" panose="020B0604020202020204" pitchFamily="34" charset="0"/>
              <a:buChar char="•"/>
            </a:pPr>
            <a:r>
              <a:rPr lang="en-US" sz="2000" b="1" dirty="0"/>
              <a:t>Audio Output System</a:t>
            </a:r>
            <a:r>
              <a:rPr lang="en-US" sz="2000" dirty="0"/>
              <a:t> for voice feedback like </a:t>
            </a:r>
            <a:r>
              <a:rPr lang="en-US" sz="2000" b="1" dirty="0"/>
              <a:t>TTS</a:t>
            </a:r>
          </a:p>
          <a:p>
            <a:r>
              <a:rPr lang="en-US" sz="2000" dirty="0"/>
              <a:t>This integration enables the system to:</a:t>
            </a:r>
          </a:p>
          <a:p>
            <a:pPr marL="342900" indent="-342900">
              <a:buFont typeface="Arial" panose="020B0604020202020204" pitchFamily="34" charset="0"/>
              <a:buChar char="•"/>
            </a:pPr>
            <a:r>
              <a:rPr lang="en-US" sz="2000" dirty="0"/>
              <a:t>Detect obstacles in real time </a:t>
            </a:r>
          </a:p>
          <a:p>
            <a:pPr marL="342900" indent="-342900">
              <a:buFont typeface="Arial" panose="020B0604020202020204" pitchFamily="34" charset="0"/>
              <a:buChar char="•"/>
            </a:pPr>
            <a:r>
              <a:rPr lang="en-US" sz="2000" dirty="0"/>
              <a:t>Recognize objects in the environment </a:t>
            </a:r>
          </a:p>
          <a:p>
            <a:pPr marL="342900" indent="-342900">
              <a:buFont typeface="Arial" panose="020B0604020202020204" pitchFamily="34" charset="0"/>
              <a:buChar char="•"/>
            </a:pPr>
            <a:r>
              <a:rPr lang="en-US" sz="2000" dirty="0"/>
              <a:t>Provide voice-based alerts and navigation instructions</a:t>
            </a:r>
          </a:p>
          <a:p>
            <a:r>
              <a:rPr lang="en-US" sz="2000" dirty="0"/>
              <a:t>The system uses:</a:t>
            </a:r>
          </a:p>
          <a:p>
            <a:pPr marL="342900" indent="-342900">
              <a:buFont typeface="Arial" panose="020B0604020202020204" pitchFamily="34" charset="0"/>
              <a:buChar char="•"/>
            </a:pPr>
            <a:r>
              <a:rPr lang="en-US" sz="2000" b="1" dirty="0"/>
              <a:t>Computer Vision</a:t>
            </a:r>
            <a:r>
              <a:rPr lang="en-US" sz="2000" dirty="0"/>
              <a:t> for scene understanding </a:t>
            </a:r>
          </a:p>
          <a:p>
            <a:pPr marL="342900" indent="-342900">
              <a:buFont typeface="Arial" panose="020B0604020202020204" pitchFamily="34" charset="0"/>
              <a:buChar char="•"/>
            </a:pPr>
            <a:r>
              <a:rPr lang="en-US" sz="2000" b="1" dirty="0"/>
              <a:t>Machine Learning models (like YOLOv8)</a:t>
            </a:r>
            <a:r>
              <a:rPr lang="en-US" sz="2000" dirty="0"/>
              <a:t> for object detection </a:t>
            </a:r>
          </a:p>
          <a:p>
            <a:pPr marL="342900" indent="-342900">
              <a:buFont typeface="Arial" panose="020B0604020202020204" pitchFamily="34" charset="0"/>
              <a:buChar char="•"/>
            </a:pPr>
            <a:r>
              <a:rPr lang="en-US" sz="2000" b="1" dirty="0"/>
              <a:t>Sensor fusion</a:t>
            </a:r>
            <a:r>
              <a:rPr lang="en-US" sz="2000" dirty="0"/>
              <a:t> to improve accuracy</a:t>
            </a:r>
          </a:p>
          <a:p>
            <a:pPr marL="342900" indent="-342900">
              <a:buFont typeface="Arial" panose="020B0604020202020204" pitchFamily="34" charset="0"/>
              <a:buChar char="•"/>
            </a:pPr>
            <a:endParaRPr lang="en-US" sz="2000" dirty="0"/>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9016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2399071" y="536306"/>
            <a:ext cx="7067271" cy="1044524"/>
          </a:xfrm>
        </p:spPr>
        <p:txBody>
          <a:bodyPr>
            <a:normAutofit/>
          </a:bodyPr>
          <a:lstStyle/>
          <a:p>
            <a:r>
              <a:rPr lang="en-US" sz="4000" b="1" dirty="0">
                <a:latin typeface="Times New Roman" pitchFamily="18" charset="0"/>
                <a:cs typeface="Times New Roman" pitchFamily="18" charset="0"/>
              </a:rPr>
              <a:t>Problem  Statements </a:t>
            </a:r>
          </a:p>
        </p:txBody>
      </p:sp>
      <p:sp>
        <p:nvSpPr>
          <p:cNvPr id="2" name="TextBox 1">
            <a:extLst>
              <a:ext uri="{FF2B5EF4-FFF2-40B4-BE49-F238E27FC236}">
                <a16:creationId xmlns:a16="http://schemas.microsoft.com/office/drawing/2014/main" id="{E7C55BAE-59C7-0CB2-F77D-37FCF6053D85}"/>
              </a:ext>
            </a:extLst>
          </p:cNvPr>
          <p:cNvSpPr txBox="1"/>
          <p:nvPr/>
        </p:nvSpPr>
        <p:spPr>
          <a:xfrm>
            <a:off x="442451" y="1580830"/>
            <a:ext cx="11307097" cy="4001095"/>
          </a:xfrm>
          <a:prstGeom prst="rect">
            <a:avLst/>
          </a:prstGeom>
          <a:noFill/>
        </p:spPr>
        <p:txBody>
          <a:bodyPr wrap="square" rtlCol="0">
            <a:spAutoFit/>
          </a:bodyPr>
          <a:lstStyle/>
          <a:p>
            <a:r>
              <a:rPr lang="en-US" dirty="0"/>
              <a:t>Traditional navigational aids like white canes are limited to detecting obstacles on the ground within a highly restricted range.</a:t>
            </a:r>
          </a:p>
          <a:p>
            <a:r>
              <a:rPr lang="en-US" dirty="0"/>
              <a:t>Current methods have several drawbacks, including the inability to detect overhead objects (like tree branches or signboards), leading to frequent injuries.</a:t>
            </a:r>
          </a:p>
          <a:p>
            <a:r>
              <a:rPr lang="en-US" dirty="0"/>
              <a:t>The major challenges faced by visually impaired individuals include:</a:t>
            </a:r>
          </a:p>
          <a:p>
            <a:pPr marL="742950" lvl="1" indent="-285750">
              <a:buFont typeface="Arial" panose="020B0604020202020204" pitchFamily="34" charset="0"/>
              <a:buChar char="•"/>
            </a:pPr>
            <a:r>
              <a:rPr lang="en-US" dirty="0"/>
              <a:t>Inability to independently read street signs, menus, or important documents.</a:t>
            </a:r>
          </a:p>
          <a:p>
            <a:pPr marL="742950" lvl="1" indent="-285750">
              <a:buFont typeface="Arial" panose="020B0604020202020204" pitchFamily="34" charset="0"/>
              <a:buChar char="•"/>
            </a:pPr>
            <a:r>
              <a:rPr lang="en-US" dirty="0"/>
              <a:t>Difficulty in navigating unfamiliar indoor and outdoor environments safely.</a:t>
            </a:r>
          </a:p>
          <a:p>
            <a:pPr marL="742950" lvl="1" indent="-285750">
              <a:buFont typeface="Arial" panose="020B0604020202020204" pitchFamily="34" charset="0"/>
              <a:buChar char="•"/>
            </a:pPr>
            <a:r>
              <a:rPr lang="en-US" dirty="0"/>
              <a:t>Lack of awareness regarding dynamic obstacles, such as moving vehicles or pedestrians.</a:t>
            </a:r>
          </a:p>
          <a:p>
            <a:pPr marL="742950" lvl="1" indent="-285750">
              <a:buFont typeface="Arial" panose="020B0604020202020204" pitchFamily="34" charset="0"/>
              <a:buChar char="•"/>
            </a:pPr>
            <a:r>
              <a:rPr lang="en-US" dirty="0"/>
              <a:t>High cost and lack of portability of existing high-tech smart glasses or specialized assistive devices.</a:t>
            </a:r>
          </a:p>
          <a:p>
            <a:r>
              <a:rPr lang="en-US" dirty="0"/>
              <a:t>Due to the lack of integrated solutions, users often have to rely on multiple different tools or human assistance for daily tasks.</a:t>
            </a:r>
          </a:p>
          <a:p>
            <a:r>
              <a:rPr lang="en-US" dirty="0"/>
              <a:t>Hence, there is a critical need for an automated, intelligent, all-in-one system that provides real-time, accurate environmental feedback via audio.</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3534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2399071" y="457648"/>
            <a:ext cx="7067271" cy="1044524"/>
          </a:xfrm>
        </p:spPr>
        <p:txBody>
          <a:bodyPr>
            <a:normAutofit/>
          </a:bodyPr>
          <a:lstStyle/>
          <a:p>
            <a:pPr lvl="0"/>
            <a:r>
              <a:rPr lang="en-IN" sz="4000" b="1" dirty="0">
                <a:latin typeface="Times New Roman" pitchFamily="18" charset="0"/>
                <a:cs typeface="Times New Roman" pitchFamily="18" charset="0"/>
              </a:rPr>
              <a:t>Identified Objectives</a:t>
            </a:r>
          </a:p>
        </p:txBody>
      </p:sp>
      <p:sp>
        <p:nvSpPr>
          <p:cNvPr id="18" name="Rectangle 13">
            <a:extLst>
              <a:ext uri="{FF2B5EF4-FFF2-40B4-BE49-F238E27FC236}">
                <a16:creationId xmlns:a16="http://schemas.microsoft.com/office/drawing/2014/main" id="{6C1E3A18-056A-177E-84F5-156519307610}"/>
              </a:ext>
            </a:extLst>
          </p:cNvPr>
          <p:cNvSpPr>
            <a:spLocks noChangeArrowheads="1"/>
          </p:cNvSpPr>
          <p:nvPr/>
        </p:nvSpPr>
        <p:spPr bwMode="auto">
          <a:xfrm>
            <a:off x="759461" y="1576915"/>
            <a:ext cx="1023300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main objective of this project is to design and develop an intelligent assistive system using Deep Learning and Computer Vision to enhance the mobility and independence of visually impaired individuals.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specific objectives include: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implement YOLOv8 for accurate, real-time object and obstacle detection (including overhead hazards).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integrate a depth estimation algorithm to calculate the proximity of detected obstacles and prioritize immediate threats.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incorporate an OCR engine to detect and read text from the environment (e.g., warning signs, bus numbers, labels).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convert the system's findings into seamless, real-time audio alerts using Text-to-Speech (TTS) APIs.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optimize the deep learning models for edge deployment (e.g., smartphones or portable microcontrollers) to ensure low latency without requiring continuous high-speed internet.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contribute towards inclusive technology and improve the quality of life for the visually impaired.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75798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16076" y="577984"/>
            <a:ext cx="6449961" cy="477837"/>
          </a:xfrm>
        </p:spPr>
        <p:txBody>
          <a:bodyPr/>
          <a:lstStyle/>
          <a:p>
            <a:r>
              <a:rPr lang="en-IN" sz="3200" b="1" dirty="0">
                <a:latin typeface="Times New Roman" panose="02020603050405020304" pitchFamily="18" charset="0"/>
              </a:rPr>
              <a:t>Literature  Survey</a:t>
            </a:r>
          </a:p>
        </p:txBody>
      </p:sp>
      <p:graphicFrame>
        <p:nvGraphicFramePr>
          <p:cNvPr id="6" name="Table 5"/>
          <p:cNvGraphicFramePr>
            <a:graphicFrameLocks noGrp="1"/>
          </p:cNvGraphicFramePr>
          <p:nvPr>
            <p:extLst>
              <p:ext uri="{D42A27DB-BD31-4B8C-83A1-F6EECF244321}">
                <p14:modId xmlns:p14="http://schemas.microsoft.com/office/powerpoint/2010/main" val="3370612304"/>
              </p:ext>
            </p:extLst>
          </p:nvPr>
        </p:nvGraphicFramePr>
        <p:xfrm>
          <a:off x="167148" y="1289936"/>
          <a:ext cx="11897033" cy="4990080"/>
        </p:xfrm>
        <a:graphic>
          <a:graphicData uri="http://schemas.openxmlformats.org/drawingml/2006/table">
            <a:tbl>
              <a:tblPr firstRow="1" bandRow="1">
                <a:tableStyleId>{5C22544A-7EE6-4342-B048-85BDC9FD1C3A}</a:tableStyleId>
              </a:tblPr>
              <a:tblGrid>
                <a:gridCol w="338831">
                  <a:extLst>
                    <a:ext uri="{9D8B030D-6E8A-4147-A177-3AD203B41FA5}">
                      <a16:colId xmlns:a16="http://schemas.microsoft.com/office/drawing/2014/main" val="20000"/>
                    </a:ext>
                  </a:extLst>
                </a:gridCol>
                <a:gridCol w="2560049">
                  <a:extLst>
                    <a:ext uri="{9D8B030D-6E8A-4147-A177-3AD203B41FA5}">
                      <a16:colId xmlns:a16="http://schemas.microsoft.com/office/drawing/2014/main" val="20001"/>
                    </a:ext>
                  </a:extLst>
                </a:gridCol>
                <a:gridCol w="1656504">
                  <a:extLst>
                    <a:ext uri="{9D8B030D-6E8A-4147-A177-3AD203B41FA5}">
                      <a16:colId xmlns:a16="http://schemas.microsoft.com/office/drawing/2014/main" val="20002"/>
                    </a:ext>
                  </a:extLst>
                </a:gridCol>
                <a:gridCol w="2140384">
                  <a:extLst>
                    <a:ext uri="{9D8B030D-6E8A-4147-A177-3AD203B41FA5}">
                      <a16:colId xmlns:a16="http://schemas.microsoft.com/office/drawing/2014/main" val="20003"/>
                    </a:ext>
                  </a:extLst>
                </a:gridCol>
                <a:gridCol w="2605548">
                  <a:extLst>
                    <a:ext uri="{9D8B030D-6E8A-4147-A177-3AD203B41FA5}">
                      <a16:colId xmlns:a16="http://schemas.microsoft.com/office/drawing/2014/main" val="20004"/>
                    </a:ext>
                  </a:extLst>
                </a:gridCol>
                <a:gridCol w="2595717">
                  <a:extLst>
                    <a:ext uri="{9D8B030D-6E8A-4147-A177-3AD203B41FA5}">
                      <a16:colId xmlns:a16="http://schemas.microsoft.com/office/drawing/2014/main" val="1634747109"/>
                    </a:ext>
                  </a:extLst>
                </a:gridCol>
              </a:tblGrid>
              <a:tr h="400000">
                <a:tc>
                  <a:txBody>
                    <a:bodyPr/>
                    <a:lstStyle/>
                    <a:p>
                      <a:pPr algn="ctr"/>
                      <a:r>
                        <a:rPr lang="en-US" sz="1200" b="1" dirty="0"/>
                        <a:t>SL NO</a:t>
                      </a:r>
                    </a:p>
                  </a:txBody>
                  <a:tcPr/>
                </a:tc>
                <a:tc>
                  <a:txBody>
                    <a:bodyPr/>
                    <a:lstStyle/>
                    <a:p>
                      <a:pPr algn="ctr"/>
                      <a:r>
                        <a:rPr lang="en-US" sz="1200" b="1" dirty="0"/>
                        <a:t>TITLE</a:t>
                      </a:r>
                    </a:p>
                  </a:txBody>
                  <a:tcPr/>
                </a:tc>
                <a:tc>
                  <a:txBody>
                    <a:bodyPr/>
                    <a:lstStyle/>
                    <a:p>
                      <a:pPr algn="ctr"/>
                      <a:r>
                        <a:rPr lang="en-US" sz="1200" b="1" dirty="0"/>
                        <a:t>DATASET</a:t>
                      </a:r>
                    </a:p>
                  </a:txBody>
                  <a:tcPr/>
                </a:tc>
                <a:tc>
                  <a:txBody>
                    <a:bodyPr/>
                    <a:lstStyle/>
                    <a:p>
                      <a:pPr algn="ctr"/>
                      <a:r>
                        <a:rPr lang="en-US" sz="1200" b="1" dirty="0"/>
                        <a:t>METHOD</a:t>
                      </a:r>
                    </a:p>
                  </a:txBody>
                  <a:tcPr/>
                </a:tc>
                <a:tc>
                  <a:txBody>
                    <a:bodyPr/>
                    <a:lstStyle/>
                    <a:p>
                      <a:pPr algn="ctr"/>
                      <a:r>
                        <a:rPr lang="en-US" sz="1200" dirty="0"/>
                        <a:t>ADVANTAGES</a:t>
                      </a:r>
                    </a:p>
                    <a:p>
                      <a:pPr algn="ctr"/>
                      <a:endParaRPr lang="en-IN" sz="1200" dirty="0"/>
                    </a:p>
                  </a:txBody>
                  <a:tcPr/>
                </a:tc>
                <a:tc>
                  <a:txBody>
                    <a:bodyPr/>
                    <a:lstStyle/>
                    <a:p>
                      <a:pPr algn="ctr"/>
                      <a:r>
                        <a:rPr lang="en-US" sz="1200" b="1" dirty="0"/>
                        <a:t>RESEARCH GAP</a:t>
                      </a:r>
                    </a:p>
                    <a:p>
                      <a:pPr algn="ctr"/>
                      <a:r>
                        <a:rPr lang="en-US" sz="1200" b="1" dirty="0"/>
                        <a:t>(Disadvantages)</a:t>
                      </a:r>
                    </a:p>
                  </a:txBody>
                  <a:tcPr/>
                </a:tc>
                <a:extLst>
                  <a:ext uri="{0D108BD9-81ED-4DB2-BD59-A6C34878D82A}">
                    <a16:rowId xmlns:a16="http://schemas.microsoft.com/office/drawing/2014/main" val="10000"/>
                  </a:ext>
                </a:extLst>
              </a:tr>
              <a:tr h="870000">
                <a:tc>
                  <a:txBody>
                    <a:bodyPr/>
                    <a:lstStyle/>
                    <a:p>
                      <a:pPr algn="ctr"/>
                      <a:r>
                        <a:rPr lang="en-US" sz="1200" dirty="0"/>
                        <a:t>1</a:t>
                      </a:r>
                    </a:p>
                  </a:txBody>
                  <a:tcPr/>
                </a:tc>
                <a:tc>
                  <a:txBody>
                    <a:bodyPr/>
                    <a:lstStyle/>
                    <a:p>
                      <a:pPr algn="l"/>
                      <a:r>
                        <a:rPr lang="en-US" sz="1200" dirty="0"/>
                        <a:t>Computer Vision based Assistive Technology For Blindand Visually Impaired People</a:t>
                      </a:r>
                    </a:p>
                  </a:txBody>
                  <a:tcPr/>
                </a:tc>
                <a:tc>
                  <a:txBody>
                    <a:bodyPr/>
                    <a:lstStyle/>
                    <a:p>
                      <a:pPr algn="l"/>
                      <a:r>
                        <a:rPr lang="en-US" sz="1200" dirty="0"/>
                        <a:t>live streaming visual data,</a:t>
                      </a:r>
                    </a:p>
                  </a:txBody>
                  <a:tcPr/>
                </a:tc>
                <a:tc>
                  <a:txBody>
                    <a:bodyPr/>
                    <a:lstStyle/>
                    <a:p>
                      <a:pPr algn="l"/>
                      <a:r>
                        <a:rPr lang="en-US" sz="1200" dirty="0"/>
                        <a:t>BRISK</a:t>
                      </a:r>
                    </a:p>
                  </a:txBody>
                  <a:tcPr/>
                </a:tc>
                <a:tc>
                  <a:txBody>
                    <a:bodyPr/>
                    <a:lstStyle/>
                    <a:p>
                      <a:r>
                        <a:rPr lang="en-US" sz="1200" dirty="0"/>
                        <a:t>Utilizes BRISK method on live streaming visual data for feature extraction.</a:t>
                      </a:r>
                      <a:endParaRPr lang="en-IN" sz="1200" dirty="0"/>
                    </a:p>
                  </a:txBody>
                  <a:tcPr/>
                </a:tc>
                <a:tc>
                  <a:txBody>
                    <a:bodyPr/>
                    <a:lstStyle/>
                    <a:p>
                      <a:pPr algn="l"/>
                      <a:r>
                        <a:rPr lang="en-US" sz="1200" dirty="0"/>
                        <a:t>No Deep Learning</a:t>
                      </a:r>
                    </a:p>
                  </a:txBody>
                  <a:tcPr/>
                </a:tc>
                <a:extLst>
                  <a:ext uri="{0D108BD9-81ED-4DB2-BD59-A6C34878D82A}">
                    <a16:rowId xmlns:a16="http://schemas.microsoft.com/office/drawing/2014/main" val="10001"/>
                  </a:ext>
                </a:extLst>
              </a:tr>
              <a:tr h="870000">
                <a:tc>
                  <a:txBody>
                    <a:bodyPr/>
                    <a:lstStyle/>
                    <a:p>
                      <a:pPr algn="ctr"/>
                      <a:r>
                        <a:rPr lang="en-US" sz="1200" dirty="0"/>
                        <a:t>2</a:t>
                      </a:r>
                    </a:p>
                  </a:txBody>
                  <a:tcPr/>
                </a:tc>
                <a:tc>
                  <a:txBody>
                    <a:bodyPr/>
                    <a:lstStyle/>
                    <a:p>
                      <a:pPr algn="l"/>
                      <a:r>
                        <a:rPr lang="en-US" sz="1200" dirty="0"/>
                        <a:t>Assistive Technology for the Visually Impaired Using Computer Vision</a:t>
                      </a:r>
                    </a:p>
                  </a:txBody>
                  <a:tcPr/>
                </a:tc>
                <a:tc>
                  <a:txBody>
                    <a:bodyPr/>
                    <a:lstStyle/>
                    <a:p>
                      <a:pPr algn="l"/>
                      <a:r>
                        <a:rPr lang="en-US" sz="1200" dirty="0"/>
                        <a:t>Live visual data</a:t>
                      </a:r>
                    </a:p>
                  </a:txBody>
                  <a:tcPr/>
                </a:tc>
                <a:tc>
                  <a:txBody>
                    <a:bodyPr/>
                    <a:lstStyle/>
                    <a:p>
                      <a:pPr algn="l"/>
                      <a:r>
                        <a:rPr lang="en-US" sz="1200" dirty="0"/>
                        <a:t>OpenCV,OCR</a:t>
                      </a:r>
                    </a:p>
                  </a:txBody>
                  <a:tcPr/>
                </a:tc>
                <a:tc>
                  <a:txBody>
                    <a:bodyPr/>
                    <a:lstStyle/>
                    <a:p>
                      <a:r>
                        <a:rPr lang="en-US" sz="1200" dirty="0"/>
                        <a:t>Implements OpenCV and OCR to process live visual data.</a:t>
                      </a:r>
                      <a:endParaRPr lang="en-IN" sz="1200" dirty="0"/>
                    </a:p>
                  </a:txBody>
                  <a:tcPr/>
                </a:tc>
                <a:tc>
                  <a:txBody>
                    <a:bodyPr/>
                    <a:lstStyle/>
                    <a:p>
                      <a:pPr algn="l"/>
                      <a:r>
                        <a:rPr lang="en-US" sz="1200" dirty="0"/>
                        <a:t>No Deep Learning</a:t>
                      </a:r>
                    </a:p>
                  </a:txBody>
                  <a:tcPr/>
                </a:tc>
                <a:extLst>
                  <a:ext uri="{0D108BD9-81ED-4DB2-BD59-A6C34878D82A}">
                    <a16:rowId xmlns:a16="http://schemas.microsoft.com/office/drawing/2014/main" val="10002"/>
                  </a:ext>
                </a:extLst>
              </a:tr>
              <a:tr h="870000">
                <a:tc>
                  <a:txBody>
                    <a:bodyPr/>
                    <a:lstStyle/>
                    <a:p>
                      <a:pPr algn="ctr"/>
                      <a:r>
                        <a:rPr lang="en-US" sz="1200" dirty="0"/>
                        <a:t>3</a:t>
                      </a:r>
                    </a:p>
                  </a:txBody>
                  <a:tcPr/>
                </a:tc>
                <a:tc>
                  <a:txBody>
                    <a:bodyPr/>
                    <a:lstStyle/>
                    <a:p>
                      <a:pPr algn="l"/>
                      <a:r>
                        <a:rPr lang="en-US" sz="1200" dirty="0"/>
                        <a:t>A Smart Assistive System for Visually Impaired People Using Deep Learning Techniques</a:t>
                      </a:r>
                    </a:p>
                  </a:txBody>
                  <a:tcPr/>
                </a:tc>
                <a:tc>
                  <a:txBody>
                    <a:bodyPr/>
                    <a:lstStyle/>
                    <a:p>
                      <a:pPr algn="l"/>
                      <a:r>
                        <a:rPr lang="en-US" sz="1200" dirty="0"/>
                        <a:t>ImageNet, COCO</a:t>
                      </a:r>
                    </a:p>
                  </a:txBody>
                  <a:tcPr/>
                </a:tc>
                <a:tc>
                  <a:txBody>
                    <a:bodyPr/>
                    <a:lstStyle/>
                    <a:p>
                      <a:pPr algn="l"/>
                      <a:r>
                        <a:rPr lang="en-US" sz="1200" dirty="0"/>
                        <a:t>CNN-based models</a:t>
                      </a:r>
                    </a:p>
                  </a:txBody>
                  <a:tcPr/>
                </a:tc>
                <a:tc>
                  <a:txBody>
                    <a:bodyPr/>
                    <a:lstStyle/>
                    <a:p>
                      <a:r>
                        <a:rPr lang="en-US" sz="1200" dirty="0"/>
                        <a:t>Uses CNN-based models trained on ImageNet and COCO datasets.</a:t>
                      </a:r>
                      <a:endParaRPr lang="en-IN" sz="1200" dirty="0"/>
                    </a:p>
                  </a:txBody>
                  <a:tcPr/>
                </a:tc>
                <a:tc>
                  <a:txBody>
                    <a:bodyPr/>
                    <a:lstStyle/>
                    <a:p>
                      <a:pPr algn="l"/>
                      <a:r>
                        <a:rPr lang="en-US" sz="1200" dirty="0"/>
                        <a:t>Limited Real-Time Efficiency</a:t>
                      </a:r>
                    </a:p>
                  </a:txBody>
                  <a:tcPr/>
                </a:tc>
                <a:extLst>
                  <a:ext uri="{0D108BD9-81ED-4DB2-BD59-A6C34878D82A}">
                    <a16:rowId xmlns:a16="http://schemas.microsoft.com/office/drawing/2014/main" val="10003"/>
                  </a:ext>
                </a:extLst>
              </a:tr>
              <a:tr h="870000">
                <a:tc>
                  <a:txBody>
                    <a:bodyPr/>
                    <a:lstStyle/>
                    <a:p>
                      <a:pPr algn="ctr"/>
                      <a:r>
                        <a:rPr lang="en-US" sz="1200" dirty="0"/>
                        <a:t>4</a:t>
                      </a:r>
                    </a:p>
                  </a:txBody>
                  <a:tcPr/>
                </a:tc>
                <a:tc>
                  <a:txBody>
                    <a:bodyPr/>
                    <a:lstStyle/>
                    <a:p>
                      <a:pPr algn="l"/>
                      <a:r>
                        <a:rPr lang="en-US" sz="1200" dirty="0"/>
                        <a:t>Vision-Based Mobile Indoor Assistive Navigation Aid for Blind People</a:t>
                      </a:r>
                    </a:p>
                  </a:txBody>
                  <a:tcPr/>
                </a:tc>
                <a:tc>
                  <a:txBody>
                    <a:bodyPr/>
                    <a:lstStyle/>
                    <a:p>
                      <a:pPr algn="l"/>
                      <a:r>
                        <a:rPr lang="en-US" sz="1200" dirty="0"/>
                        <a:t>Live indoor visual data</a:t>
                      </a:r>
                    </a:p>
                  </a:txBody>
                  <a:tcPr/>
                </a:tc>
                <a:tc>
                  <a:txBody>
                    <a:bodyPr/>
                    <a:lstStyle/>
                    <a:p>
                      <a:pPr algn="l"/>
                      <a:r>
                        <a:rPr lang="en-US" sz="1200" dirty="0"/>
                        <a:t>Kalman filter (TSM-KF) algorithm</a:t>
                      </a:r>
                    </a:p>
                  </a:txBody>
                  <a:tcPr/>
                </a:tc>
                <a:tc>
                  <a:txBody>
                    <a:bodyPr/>
                    <a:lstStyle/>
                    <a:p>
                      <a:r>
                        <a:rPr lang="en-US" sz="1200" dirty="0"/>
                        <a:t>Applies </a:t>
                      </a:r>
                      <a:r>
                        <a:rPr lang="en-IN" sz="1200" dirty="0"/>
                        <a:t>Kalman filter (TSM-KF) algorithm on live indoor visual data.</a:t>
                      </a:r>
                    </a:p>
                  </a:txBody>
                  <a:tcPr/>
                </a:tc>
                <a:tc>
                  <a:txBody>
                    <a:bodyPr/>
                    <a:lstStyle/>
                    <a:p>
                      <a:pPr algn="l"/>
                      <a:r>
                        <a:rPr lang="en-US" sz="1200" dirty="0"/>
                        <a:t>Limited to Indoor Environment</a:t>
                      </a:r>
                    </a:p>
                  </a:txBody>
                  <a:tcPr/>
                </a:tc>
                <a:extLst>
                  <a:ext uri="{0D108BD9-81ED-4DB2-BD59-A6C34878D82A}">
                    <a16:rowId xmlns:a16="http://schemas.microsoft.com/office/drawing/2014/main" val="10004"/>
                  </a:ext>
                </a:extLst>
              </a:tr>
              <a:tr h="870000">
                <a:tc>
                  <a:txBody>
                    <a:bodyPr/>
                    <a:lstStyle/>
                    <a:p>
                      <a:pPr algn="ctr"/>
                      <a:r>
                        <a:rPr lang="en-US" sz="1200" dirty="0"/>
                        <a:t>5</a:t>
                      </a:r>
                    </a:p>
                  </a:txBody>
                  <a:tcPr/>
                </a:tc>
                <a:tc>
                  <a:txBody>
                    <a:bodyPr/>
                    <a:lstStyle/>
                    <a:p>
                      <a:pPr algn="l"/>
                      <a:r>
                        <a:rPr lang="en-US" sz="1200" dirty="0"/>
                        <a:t>Vision-Based Mobile Indoor Assistive Navigation Aid for Blind People</a:t>
                      </a:r>
                    </a:p>
                  </a:txBody>
                  <a:tcPr/>
                </a:tc>
                <a:tc>
                  <a:txBody>
                    <a:bodyPr/>
                    <a:lstStyle/>
                    <a:p>
                      <a:pPr algn="l"/>
                      <a:r>
                        <a:rPr lang="en-US" sz="1200" dirty="0"/>
                        <a:t>Live indoor visual data</a:t>
                      </a:r>
                    </a:p>
                  </a:txBody>
                  <a:tcPr/>
                </a:tc>
                <a:tc>
                  <a:txBody>
                    <a:bodyPr/>
                    <a:lstStyle/>
                    <a:p>
                      <a:pPr algn="l"/>
                      <a:r>
                        <a:rPr lang="en-US" sz="1200" dirty="0"/>
                        <a:t>Kalman filter (TSM-KF) algorithm,3D grid map + semantic layers,vps</a:t>
                      </a:r>
                    </a:p>
                  </a:txBody>
                  <a:tcPr/>
                </a:tc>
                <a:tc>
                  <a:txBody>
                    <a:bodyPr/>
                    <a:lstStyle/>
                    <a:p>
                      <a:r>
                        <a:rPr lang="en-US" sz="1200" dirty="0"/>
                        <a:t>Combines Kalman filter, 3D grid map, semantic layers, and VPS.</a:t>
                      </a:r>
                      <a:endParaRPr lang="en-IN" sz="1200" dirty="0"/>
                    </a:p>
                  </a:txBody>
                  <a:tcPr/>
                </a:tc>
                <a:tc>
                  <a:txBody>
                    <a:bodyPr/>
                    <a:lstStyle/>
                    <a:p>
                      <a:pPr algn="l"/>
                      <a:r>
                        <a:rPr lang="en-US" sz="1200" dirty="0"/>
                        <a:t>Limited to Indoor Environment</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22090" y="521945"/>
            <a:ext cx="6449961" cy="477837"/>
          </a:xfrm>
        </p:spPr>
        <p:txBody>
          <a:bodyPr/>
          <a:lstStyle/>
          <a:p>
            <a:r>
              <a:rPr lang="en-IN" sz="3200" b="1" dirty="0">
                <a:latin typeface="Times New Roman" panose="02020603050405020304" pitchFamily="18" charset="0"/>
              </a:rPr>
              <a:t>Literature  Survey(Cont...)</a:t>
            </a:r>
          </a:p>
        </p:txBody>
      </p:sp>
      <p:graphicFrame>
        <p:nvGraphicFramePr>
          <p:cNvPr id="6" name="Table 5"/>
          <p:cNvGraphicFramePr>
            <a:graphicFrameLocks noGrp="1"/>
          </p:cNvGraphicFramePr>
          <p:nvPr>
            <p:extLst>
              <p:ext uri="{D42A27DB-BD31-4B8C-83A1-F6EECF244321}">
                <p14:modId xmlns:p14="http://schemas.microsoft.com/office/powerpoint/2010/main" val="3095119253"/>
              </p:ext>
            </p:extLst>
          </p:nvPr>
        </p:nvGraphicFramePr>
        <p:xfrm>
          <a:off x="157316" y="1289936"/>
          <a:ext cx="11918335" cy="4807200"/>
        </p:xfrm>
        <a:graphic>
          <a:graphicData uri="http://schemas.openxmlformats.org/drawingml/2006/table">
            <a:tbl>
              <a:tblPr firstRow="1" bandRow="1">
                <a:tableStyleId>{5C22544A-7EE6-4342-B048-85BDC9FD1C3A}</a:tableStyleId>
              </a:tblPr>
              <a:tblGrid>
                <a:gridCol w="413490">
                  <a:extLst>
                    <a:ext uri="{9D8B030D-6E8A-4147-A177-3AD203B41FA5}">
                      <a16:colId xmlns:a16="http://schemas.microsoft.com/office/drawing/2014/main" val="20000"/>
                    </a:ext>
                  </a:extLst>
                </a:gridCol>
                <a:gridCol w="2804644">
                  <a:extLst>
                    <a:ext uri="{9D8B030D-6E8A-4147-A177-3AD203B41FA5}">
                      <a16:colId xmlns:a16="http://schemas.microsoft.com/office/drawing/2014/main" val="20001"/>
                    </a:ext>
                  </a:extLst>
                </a:gridCol>
                <a:gridCol w="1814767">
                  <a:extLst>
                    <a:ext uri="{9D8B030D-6E8A-4147-A177-3AD203B41FA5}">
                      <a16:colId xmlns:a16="http://schemas.microsoft.com/office/drawing/2014/main" val="20002"/>
                    </a:ext>
                  </a:extLst>
                </a:gridCol>
                <a:gridCol w="2062240">
                  <a:extLst>
                    <a:ext uri="{9D8B030D-6E8A-4147-A177-3AD203B41FA5}">
                      <a16:colId xmlns:a16="http://schemas.microsoft.com/office/drawing/2014/main" val="20003"/>
                    </a:ext>
                  </a:extLst>
                </a:gridCol>
                <a:gridCol w="2062240">
                  <a:extLst>
                    <a:ext uri="{9D8B030D-6E8A-4147-A177-3AD203B41FA5}">
                      <a16:colId xmlns:a16="http://schemas.microsoft.com/office/drawing/2014/main" val="3247584619"/>
                    </a:ext>
                  </a:extLst>
                </a:gridCol>
                <a:gridCol w="2760954">
                  <a:extLst>
                    <a:ext uri="{9D8B030D-6E8A-4147-A177-3AD203B41FA5}">
                      <a16:colId xmlns:a16="http://schemas.microsoft.com/office/drawing/2014/main" val="20004"/>
                    </a:ext>
                  </a:extLst>
                </a:gridCol>
              </a:tblGrid>
              <a:tr h="400000">
                <a:tc>
                  <a:txBody>
                    <a:bodyPr/>
                    <a:lstStyle/>
                    <a:p>
                      <a:pPr algn="ctr"/>
                      <a:r>
                        <a:rPr lang="en-US" sz="1200" b="1" dirty="0"/>
                        <a:t>SL NO</a:t>
                      </a:r>
                    </a:p>
                  </a:txBody>
                  <a:tcPr/>
                </a:tc>
                <a:tc>
                  <a:txBody>
                    <a:bodyPr/>
                    <a:lstStyle/>
                    <a:p>
                      <a:pPr algn="ctr"/>
                      <a:r>
                        <a:rPr lang="en-US" sz="1200" b="1" dirty="0"/>
                        <a:t>TITLE</a:t>
                      </a:r>
                    </a:p>
                  </a:txBody>
                  <a:tcPr/>
                </a:tc>
                <a:tc>
                  <a:txBody>
                    <a:bodyPr/>
                    <a:lstStyle/>
                    <a:p>
                      <a:pPr algn="ctr"/>
                      <a:r>
                        <a:rPr lang="en-US" sz="1200" b="1" dirty="0"/>
                        <a:t>DATASET</a:t>
                      </a:r>
                    </a:p>
                  </a:txBody>
                  <a:tcPr/>
                </a:tc>
                <a:tc>
                  <a:txBody>
                    <a:bodyPr/>
                    <a:lstStyle/>
                    <a:p>
                      <a:pPr algn="ctr"/>
                      <a:r>
                        <a:rPr lang="en-US" sz="1200" b="1" dirty="0"/>
                        <a:t>METHOD</a:t>
                      </a:r>
                    </a:p>
                  </a:txBody>
                  <a:tcPr/>
                </a:tc>
                <a:tc>
                  <a:txBody>
                    <a:bodyPr/>
                    <a:lstStyle/>
                    <a:p>
                      <a:pPr algn="ctr"/>
                      <a:r>
                        <a:rPr lang="en-US" sz="1200" b="1" dirty="0"/>
                        <a:t>ADVANTAGES</a:t>
                      </a:r>
                    </a:p>
                  </a:txBody>
                  <a:tcPr/>
                </a:tc>
                <a:tc>
                  <a:txBody>
                    <a:bodyPr/>
                    <a:lstStyle/>
                    <a:p>
                      <a:pPr algn="ctr"/>
                      <a:r>
                        <a:rPr lang="en-US" sz="1200" b="1" dirty="0"/>
                        <a:t>RESEARCH GAP</a:t>
                      </a:r>
                    </a:p>
                    <a:p>
                      <a:pPr algn="ctr"/>
                      <a:r>
                        <a:rPr lang="en-US" sz="1200" b="1" dirty="0"/>
                        <a:t>(Disadvantages)</a:t>
                      </a:r>
                    </a:p>
                  </a:txBody>
                  <a:tcPr/>
                </a:tc>
                <a:extLst>
                  <a:ext uri="{0D108BD9-81ED-4DB2-BD59-A6C34878D82A}">
                    <a16:rowId xmlns:a16="http://schemas.microsoft.com/office/drawing/2014/main" val="10000"/>
                  </a:ext>
                </a:extLst>
              </a:tr>
              <a:tr h="870000">
                <a:tc>
                  <a:txBody>
                    <a:bodyPr/>
                    <a:lstStyle/>
                    <a:p>
                      <a:pPr algn="ctr"/>
                      <a:r>
                        <a:rPr lang="en-US" sz="1200" dirty="0"/>
                        <a:t>6</a:t>
                      </a:r>
                    </a:p>
                  </a:txBody>
                  <a:tcPr/>
                </a:tc>
                <a:tc>
                  <a:txBody>
                    <a:bodyPr/>
                    <a:lstStyle/>
                    <a:p>
                      <a:pPr algn="l"/>
                      <a:r>
                        <a:rPr lang="en-US" sz="1200" dirty="0"/>
                        <a:t>Real-Time Object Detection for Blind Navigation using YOLOv3</a:t>
                      </a:r>
                    </a:p>
                  </a:txBody>
                  <a:tcPr/>
                </a:tc>
                <a:tc>
                  <a:txBody>
                    <a:bodyPr/>
                    <a:lstStyle/>
                    <a:p>
                      <a:pPr algn="l"/>
                      <a:r>
                        <a:rPr lang="en-US" sz="1200" dirty="0"/>
                        <a:t>COCO dataset + real-time camera input</a:t>
                      </a:r>
                    </a:p>
                  </a:txBody>
                  <a:tcPr/>
                </a:tc>
                <a:tc>
                  <a:txBody>
                    <a:bodyPr/>
                    <a:lstStyle/>
                    <a:p>
                      <a:pPr algn="l"/>
                      <a:r>
                        <a:rPr lang="en-US" sz="1200" dirty="0"/>
                        <a:t>YOLOv3 for object detection with real-time processing and audio feedback</a:t>
                      </a:r>
                    </a:p>
                  </a:txBody>
                  <a:tcPr/>
                </a:tc>
                <a:tc>
                  <a:txBody>
                    <a:bodyPr/>
                    <a:lstStyle/>
                    <a:p>
                      <a:pPr algn="l"/>
                      <a:r>
                        <a:rPr lang="en-US" sz="1200" dirty="0"/>
                        <a:t>Uses YOLOv3 for object detection with real-time processing and audio feedback.</a:t>
                      </a:r>
                    </a:p>
                  </a:txBody>
                  <a:tcPr/>
                </a:tc>
                <a:tc>
                  <a:txBody>
                    <a:bodyPr/>
                    <a:lstStyle/>
                    <a:p>
                      <a:pPr algn="l"/>
                      <a:r>
                        <a:rPr lang="en-US" sz="1200" dirty="0"/>
                        <a:t>High computational cost; limited performance on low-end devices</a:t>
                      </a:r>
                    </a:p>
                  </a:txBody>
                  <a:tcPr/>
                </a:tc>
                <a:extLst>
                  <a:ext uri="{0D108BD9-81ED-4DB2-BD59-A6C34878D82A}">
                    <a16:rowId xmlns:a16="http://schemas.microsoft.com/office/drawing/2014/main" val="10001"/>
                  </a:ext>
                </a:extLst>
              </a:tr>
              <a:tr h="870000">
                <a:tc>
                  <a:txBody>
                    <a:bodyPr/>
                    <a:lstStyle/>
                    <a:p>
                      <a:pPr algn="ctr"/>
                      <a:r>
                        <a:rPr lang="en-US" sz="1200" dirty="0"/>
                        <a:t>7</a:t>
                      </a:r>
                    </a:p>
                  </a:txBody>
                  <a:tcPr/>
                </a:tc>
                <a:tc>
                  <a:txBody>
                    <a:bodyPr/>
                    <a:lstStyle/>
                    <a:p>
                      <a:pPr algn="l"/>
                      <a:r>
                        <a:rPr lang="en-US" sz="1200" dirty="0"/>
                        <a:t>Deep Learning Based Smart Cane for Visually Impaired</a:t>
                      </a:r>
                    </a:p>
                  </a:txBody>
                  <a:tcPr/>
                </a:tc>
                <a:tc>
                  <a:txBody>
                    <a:bodyPr/>
                    <a:lstStyle/>
                    <a:p>
                      <a:pPr algn="l"/>
                      <a:r>
                        <a:rPr lang="en-US" sz="1200" dirty="0"/>
                        <a:t>Custom dataset collected from indoor/outdoor environments</a:t>
                      </a:r>
                    </a:p>
                  </a:txBody>
                  <a:tcPr/>
                </a:tc>
                <a:tc>
                  <a:txBody>
                    <a:bodyPr/>
                    <a:lstStyle/>
                    <a:p>
                      <a:pPr algn="l"/>
                      <a:r>
                        <a:rPr lang="en-US" sz="1200" dirty="0"/>
                        <a:t>CNN-based object detection integrated with ultrasonic sensors</a:t>
                      </a:r>
                    </a:p>
                  </a:txBody>
                  <a:tcPr/>
                </a:tc>
                <a:tc>
                  <a:txBody>
                    <a:bodyPr/>
                    <a:lstStyle/>
                    <a:p>
                      <a:pPr algn="l"/>
                      <a:r>
                        <a:rPr lang="en-US" sz="1200" dirty="0"/>
                        <a:t>CNN-based object detection with integrated ultrasonic sensors </a:t>
                      </a:r>
                    </a:p>
                  </a:txBody>
                  <a:tcPr/>
                </a:tc>
                <a:tc>
                  <a:txBody>
                    <a:bodyPr/>
                    <a:lstStyle/>
                    <a:p>
                      <a:pPr algn="l"/>
                      <a:r>
                        <a:rPr lang="en-US" sz="1200" dirty="0"/>
                        <a:t>Limited dataset size; lacks complex scene understanding</a:t>
                      </a:r>
                    </a:p>
                  </a:txBody>
                  <a:tcPr/>
                </a:tc>
                <a:extLst>
                  <a:ext uri="{0D108BD9-81ED-4DB2-BD59-A6C34878D82A}">
                    <a16:rowId xmlns:a16="http://schemas.microsoft.com/office/drawing/2014/main" val="10002"/>
                  </a:ext>
                </a:extLst>
              </a:tr>
              <a:tr h="870000">
                <a:tc>
                  <a:txBody>
                    <a:bodyPr/>
                    <a:lstStyle/>
                    <a:p>
                      <a:pPr algn="ctr"/>
                      <a:r>
                        <a:rPr lang="en-US" sz="1200" dirty="0"/>
                        <a:t>8</a:t>
                      </a:r>
                    </a:p>
                  </a:txBody>
                  <a:tcPr/>
                </a:tc>
                <a:tc>
                  <a:txBody>
                    <a:bodyPr/>
                    <a:lstStyle/>
                    <a:p>
                      <a:pPr algn="l"/>
                      <a:r>
                        <a:rPr lang="en-US" sz="1200" dirty="0"/>
                        <a:t>Wearable Assistive Device Using SSD for Object Detection</a:t>
                      </a:r>
                    </a:p>
                  </a:txBody>
                  <a:tcPr/>
                </a:tc>
                <a:tc>
                  <a:txBody>
                    <a:bodyPr/>
                    <a:lstStyle/>
                    <a:p>
                      <a:pPr algn="l"/>
                      <a:r>
                        <a:rPr lang="en-US" sz="1200" dirty="0"/>
                        <a:t>Pascal VOC + real-time images</a:t>
                      </a:r>
                    </a:p>
                  </a:txBody>
                  <a:tcPr/>
                </a:tc>
                <a:tc>
                  <a:txBody>
                    <a:bodyPr/>
                    <a:lstStyle/>
                    <a:p>
                      <a:pPr algn="l"/>
                      <a:r>
                        <a:rPr lang="en-US" sz="1200" dirty="0"/>
                        <a:t>SSD (Single Shot Detector) for fast object detection with audio alerts</a:t>
                      </a:r>
                    </a:p>
                  </a:txBody>
                  <a:tcPr/>
                </a:tc>
                <a:tc>
                  <a:txBody>
                    <a:bodyPr/>
                    <a:lstStyle/>
                    <a:p>
                      <a:pPr algn="l"/>
                      <a:r>
                        <a:rPr lang="en-US" sz="1200" dirty="0"/>
                        <a:t>Uses SSD (Single Shot Detector) for fast object detection with audio alerts.</a:t>
                      </a:r>
                    </a:p>
                  </a:txBody>
                  <a:tcPr/>
                </a:tc>
                <a:tc>
                  <a:txBody>
                    <a:bodyPr/>
                    <a:lstStyle/>
                    <a:p>
                      <a:pPr algn="l"/>
                      <a:r>
                        <a:rPr lang="en-US" sz="1200" dirty="0"/>
                        <a:t>Accuracy lower than newer models; struggles in low light</a:t>
                      </a:r>
                    </a:p>
                  </a:txBody>
                  <a:tcPr/>
                </a:tc>
                <a:extLst>
                  <a:ext uri="{0D108BD9-81ED-4DB2-BD59-A6C34878D82A}">
                    <a16:rowId xmlns:a16="http://schemas.microsoft.com/office/drawing/2014/main" val="10003"/>
                  </a:ext>
                </a:extLst>
              </a:tr>
              <a:tr h="870000">
                <a:tc>
                  <a:txBody>
                    <a:bodyPr/>
                    <a:lstStyle/>
                    <a:p>
                      <a:pPr algn="ctr"/>
                      <a:r>
                        <a:rPr lang="en-US" sz="1200" dirty="0"/>
                        <a:t>9</a:t>
                      </a:r>
                    </a:p>
                  </a:txBody>
                  <a:tcPr/>
                </a:tc>
                <a:tc>
                  <a:txBody>
                    <a:bodyPr/>
                    <a:lstStyle/>
                    <a:p>
                      <a:pPr algn="l"/>
                      <a:r>
                        <a:rPr lang="en-US" sz="1200" dirty="0"/>
                        <a:t>Assistive Navigation System using Faster R-CNN</a:t>
                      </a:r>
                    </a:p>
                  </a:txBody>
                  <a:tcPr/>
                </a:tc>
                <a:tc>
                  <a:txBody>
                    <a:bodyPr/>
                    <a:lstStyle/>
                    <a:p>
                      <a:pPr algn="l"/>
                      <a:r>
                        <a:rPr lang="en-US" sz="1200" dirty="0"/>
                        <a:t>COCO dataset</a:t>
                      </a:r>
                    </a:p>
                  </a:txBody>
                  <a:tcPr/>
                </a:tc>
                <a:tc>
                  <a:txBody>
                    <a:bodyPr/>
                    <a:lstStyle/>
                    <a:p>
                      <a:pPr algn="l"/>
                      <a:r>
                        <a:rPr lang="en-US" sz="1200" dirty="0"/>
                        <a:t>Faster R-CNN for obstacle detection and classification</a:t>
                      </a:r>
                    </a:p>
                  </a:txBody>
                  <a:tcPr/>
                </a:tc>
                <a:tc>
                  <a:txBody>
                    <a:bodyPr/>
                    <a:lstStyle/>
                    <a:p>
                      <a:pPr algn="l"/>
                      <a:r>
                        <a:rPr lang="en-US" sz="1200" dirty="0"/>
                        <a:t>Utilizes </a:t>
                      </a:r>
                      <a:r>
                        <a:rPr lang="en-IN" sz="1200" dirty="0"/>
                        <a:t>Faster R-CNN for robust obstacle detection and classification</a:t>
                      </a:r>
                      <a:endParaRPr lang="en-US" sz="1200" dirty="0"/>
                    </a:p>
                  </a:txBody>
                  <a:tcPr/>
                </a:tc>
                <a:tc>
                  <a:txBody>
                    <a:bodyPr/>
                    <a:lstStyle/>
                    <a:p>
                      <a:pPr algn="l"/>
                      <a:r>
                        <a:rPr lang="en-US" sz="1200" dirty="0"/>
                        <a:t>Slow inference speed; not suitable for real-time low-power devices</a:t>
                      </a:r>
                    </a:p>
                  </a:txBody>
                  <a:tcPr/>
                </a:tc>
                <a:extLst>
                  <a:ext uri="{0D108BD9-81ED-4DB2-BD59-A6C34878D82A}">
                    <a16:rowId xmlns:a16="http://schemas.microsoft.com/office/drawing/2014/main" val="10004"/>
                  </a:ext>
                </a:extLst>
              </a:tr>
              <a:tr h="870000">
                <a:tc>
                  <a:txBody>
                    <a:bodyPr/>
                    <a:lstStyle/>
                    <a:p>
                      <a:pPr algn="ctr"/>
                      <a:r>
                        <a:rPr lang="en-US" sz="1200" dirty="0"/>
                        <a:t>10</a:t>
                      </a:r>
                    </a:p>
                  </a:txBody>
                  <a:tcPr/>
                </a:tc>
                <a:tc>
                  <a:txBody>
                    <a:bodyPr/>
                    <a:lstStyle/>
                    <a:p>
                      <a:pPr algn="l"/>
                      <a:r>
                        <a:rPr lang="en-US" sz="1200" dirty="0"/>
                        <a:t>Smart Vision System for Blind using MobileNet</a:t>
                      </a:r>
                    </a:p>
                  </a:txBody>
                  <a:tcPr/>
                </a:tc>
                <a:tc>
                  <a:txBody>
                    <a:bodyPr/>
                    <a:lstStyle/>
                    <a:p>
                      <a:pPr algn="l"/>
                      <a:r>
                        <a:rPr lang="en-US" sz="1200" dirty="0"/>
                        <a:t>ImageNet + custom dataset</a:t>
                      </a:r>
                    </a:p>
                  </a:txBody>
                  <a:tcPr/>
                </a:tc>
                <a:tc>
                  <a:txBody>
                    <a:bodyPr/>
                    <a:lstStyle/>
                    <a:p>
                      <a:pPr algn="l"/>
                      <a:r>
                        <a:rPr lang="en-US" sz="1200" dirty="0"/>
                        <a:t>MobileNet lightweight CNN for mobile-based detection</a:t>
                      </a:r>
                    </a:p>
                  </a:txBody>
                  <a:tcPr/>
                </a:tc>
                <a:tc>
                  <a:txBody>
                    <a:bodyPr/>
                    <a:lstStyle/>
                    <a:p>
                      <a:pPr algn="l"/>
                      <a:r>
                        <a:rPr lang="en-US" sz="1200" dirty="0"/>
                        <a:t>Employs </a:t>
                      </a:r>
                      <a:r>
                        <a:rPr lang="en-US" sz="1200" dirty="0" err="1"/>
                        <a:t>MobileNet</a:t>
                      </a:r>
                      <a:r>
                        <a:rPr lang="en-US" sz="1200" dirty="0"/>
                        <a:t>, a lightweight CNN, for mobile-based detection.</a:t>
                      </a:r>
                    </a:p>
                  </a:txBody>
                  <a:tcPr/>
                </a:tc>
                <a:tc>
                  <a:txBody>
                    <a:bodyPr/>
                    <a:lstStyle/>
                    <a:p>
                      <a:pPr algn="l"/>
                      <a:r>
                        <a:rPr lang="en-US" sz="1200" dirty="0"/>
                        <a:t>Limited accuracy compared to heavier models</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84438" y="577984"/>
            <a:ext cx="6449961" cy="477837"/>
          </a:xfrm>
        </p:spPr>
        <p:txBody>
          <a:bodyPr/>
          <a:lstStyle/>
          <a:p>
            <a:r>
              <a:rPr lang="en-IN" sz="3200" b="1" dirty="0">
                <a:latin typeface="Times New Roman" panose="02020603050405020304" pitchFamily="18" charset="0"/>
              </a:rPr>
              <a:t>Literature  Survey(Cont...)</a:t>
            </a:r>
          </a:p>
        </p:txBody>
      </p:sp>
      <p:graphicFrame>
        <p:nvGraphicFramePr>
          <p:cNvPr id="6" name="Table 5"/>
          <p:cNvGraphicFramePr>
            <a:graphicFrameLocks noGrp="1"/>
          </p:cNvGraphicFramePr>
          <p:nvPr>
            <p:extLst>
              <p:ext uri="{D42A27DB-BD31-4B8C-83A1-F6EECF244321}">
                <p14:modId xmlns:p14="http://schemas.microsoft.com/office/powerpoint/2010/main" val="2152979587"/>
              </p:ext>
            </p:extLst>
          </p:nvPr>
        </p:nvGraphicFramePr>
        <p:xfrm>
          <a:off x="157316" y="1289936"/>
          <a:ext cx="11897031" cy="4990080"/>
        </p:xfrm>
        <a:graphic>
          <a:graphicData uri="http://schemas.openxmlformats.org/drawingml/2006/table">
            <a:tbl>
              <a:tblPr firstRow="1" bandRow="1">
                <a:tableStyleId>{5C22544A-7EE6-4342-B048-85BDC9FD1C3A}</a:tableStyleId>
              </a:tblPr>
              <a:tblGrid>
                <a:gridCol w="371859">
                  <a:extLst>
                    <a:ext uri="{9D8B030D-6E8A-4147-A177-3AD203B41FA5}">
                      <a16:colId xmlns:a16="http://schemas.microsoft.com/office/drawing/2014/main" val="20000"/>
                    </a:ext>
                  </a:extLst>
                </a:gridCol>
                <a:gridCol w="2809600">
                  <a:extLst>
                    <a:ext uri="{9D8B030D-6E8A-4147-A177-3AD203B41FA5}">
                      <a16:colId xmlns:a16="http://schemas.microsoft.com/office/drawing/2014/main" val="20001"/>
                    </a:ext>
                  </a:extLst>
                </a:gridCol>
                <a:gridCol w="1817977">
                  <a:extLst>
                    <a:ext uri="{9D8B030D-6E8A-4147-A177-3AD203B41FA5}">
                      <a16:colId xmlns:a16="http://schemas.microsoft.com/office/drawing/2014/main" val="20002"/>
                    </a:ext>
                  </a:extLst>
                </a:gridCol>
                <a:gridCol w="2065883">
                  <a:extLst>
                    <a:ext uri="{9D8B030D-6E8A-4147-A177-3AD203B41FA5}">
                      <a16:colId xmlns:a16="http://schemas.microsoft.com/office/drawing/2014/main" val="20003"/>
                    </a:ext>
                  </a:extLst>
                </a:gridCol>
                <a:gridCol w="2363817">
                  <a:extLst>
                    <a:ext uri="{9D8B030D-6E8A-4147-A177-3AD203B41FA5}">
                      <a16:colId xmlns:a16="http://schemas.microsoft.com/office/drawing/2014/main" val="1717438460"/>
                    </a:ext>
                  </a:extLst>
                </a:gridCol>
                <a:gridCol w="2467895">
                  <a:extLst>
                    <a:ext uri="{9D8B030D-6E8A-4147-A177-3AD203B41FA5}">
                      <a16:colId xmlns:a16="http://schemas.microsoft.com/office/drawing/2014/main" val="20004"/>
                    </a:ext>
                  </a:extLst>
                </a:gridCol>
              </a:tblGrid>
              <a:tr h="400000">
                <a:tc>
                  <a:txBody>
                    <a:bodyPr/>
                    <a:lstStyle/>
                    <a:p>
                      <a:pPr algn="ctr"/>
                      <a:r>
                        <a:rPr lang="en-US" sz="1200" b="1" dirty="0"/>
                        <a:t>SL NO</a:t>
                      </a:r>
                    </a:p>
                  </a:txBody>
                  <a:tcPr/>
                </a:tc>
                <a:tc>
                  <a:txBody>
                    <a:bodyPr/>
                    <a:lstStyle/>
                    <a:p>
                      <a:pPr algn="ctr"/>
                      <a:r>
                        <a:rPr lang="en-US" sz="1200" b="1" dirty="0"/>
                        <a:t>TITLE</a:t>
                      </a:r>
                    </a:p>
                  </a:txBody>
                  <a:tcPr/>
                </a:tc>
                <a:tc>
                  <a:txBody>
                    <a:bodyPr/>
                    <a:lstStyle/>
                    <a:p>
                      <a:pPr algn="ctr"/>
                      <a:r>
                        <a:rPr lang="en-US" sz="1200" b="1" dirty="0"/>
                        <a:t>DATASET</a:t>
                      </a:r>
                    </a:p>
                  </a:txBody>
                  <a:tcPr/>
                </a:tc>
                <a:tc>
                  <a:txBody>
                    <a:bodyPr/>
                    <a:lstStyle/>
                    <a:p>
                      <a:pPr algn="ctr"/>
                      <a:r>
                        <a:rPr lang="en-US" sz="1200" b="1" dirty="0"/>
                        <a:t>METHOD</a:t>
                      </a:r>
                    </a:p>
                  </a:txBody>
                  <a:tcPr/>
                </a:tc>
                <a:tc>
                  <a:txBody>
                    <a:bodyPr/>
                    <a:lstStyle/>
                    <a:p>
                      <a:pPr algn="ctr"/>
                      <a:r>
                        <a:rPr lang="en-US" sz="1200" b="1" dirty="0"/>
                        <a:t>ADVANTAGES</a:t>
                      </a:r>
                    </a:p>
                  </a:txBody>
                  <a:tcPr/>
                </a:tc>
                <a:tc>
                  <a:txBody>
                    <a:bodyPr/>
                    <a:lstStyle/>
                    <a:p>
                      <a:pPr algn="ctr"/>
                      <a:r>
                        <a:rPr lang="en-US" sz="1200" b="1" dirty="0"/>
                        <a:t>RESEARCH GAP</a:t>
                      </a:r>
                    </a:p>
                    <a:p>
                      <a:pPr algn="ctr"/>
                      <a:r>
                        <a:rPr lang="en-US" sz="1200" b="1" dirty="0"/>
                        <a:t>(Disadvantages)</a:t>
                      </a:r>
                    </a:p>
                  </a:txBody>
                  <a:tcPr/>
                </a:tc>
                <a:extLst>
                  <a:ext uri="{0D108BD9-81ED-4DB2-BD59-A6C34878D82A}">
                    <a16:rowId xmlns:a16="http://schemas.microsoft.com/office/drawing/2014/main" val="10000"/>
                  </a:ext>
                </a:extLst>
              </a:tr>
              <a:tr h="870000">
                <a:tc>
                  <a:txBody>
                    <a:bodyPr/>
                    <a:lstStyle/>
                    <a:p>
                      <a:pPr algn="ctr"/>
                      <a:r>
                        <a:rPr lang="en-US" sz="1200" dirty="0"/>
                        <a:t>11</a:t>
                      </a:r>
                    </a:p>
                  </a:txBody>
                  <a:tcPr/>
                </a:tc>
                <a:tc>
                  <a:txBody>
                    <a:bodyPr/>
                    <a:lstStyle/>
                    <a:p>
                      <a:pPr algn="l"/>
                      <a:r>
                        <a:rPr lang="en-US" sz="1200" dirty="0"/>
                        <a:t>Obstacle Detection System using Depth Estimation and CNN</a:t>
                      </a:r>
                    </a:p>
                  </a:txBody>
                  <a:tcPr/>
                </a:tc>
                <a:tc>
                  <a:txBody>
                    <a:bodyPr/>
                    <a:lstStyle/>
                    <a:p>
                      <a:pPr algn="l"/>
                      <a:r>
                        <a:rPr lang="en-US" sz="1200" dirty="0"/>
                        <a:t>KITTI dataset</a:t>
                      </a:r>
                    </a:p>
                  </a:txBody>
                  <a:tcPr/>
                </a:tc>
                <a:tc>
                  <a:txBody>
                    <a:bodyPr/>
                    <a:lstStyle/>
                    <a:p>
                      <a:pPr algn="l"/>
                      <a:r>
                        <a:rPr lang="en-US" sz="1200" dirty="0"/>
                        <a:t>Depth estimation + CNN for distance calculation and object detection</a:t>
                      </a:r>
                    </a:p>
                  </a:txBody>
                  <a:tcPr/>
                </a:tc>
                <a:tc>
                  <a:txBody>
                    <a:bodyPr/>
                    <a:lstStyle/>
                    <a:p>
                      <a:pPr algn="l"/>
                      <a:r>
                        <a:rPr lang="en-US" sz="1200" dirty="0"/>
                        <a:t>Combines depth estimation and CNNs for distance calculation and object detection.</a:t>
                      </a:r>
                    </a:p>
                  </a:txBody>
                  <a:tcPr/>
                </a:tc>
                <a:tc>
                  <a:txBody>
                    <a:bodyPr/>
                    <a:lstStyle/>
                    <a:p>
                      <a:pPr algn="l"/>
                      <a:r>
                        <a:rPr lang="en-US" sz="1200" dirty="0"/>
                        <a:t>Complex computation; limited indoor performance</a:t>
                      </a:r>
                    </a:p>
                  </a:txBody>
                  <a:tcPr/>
                </a:tc>
                <a:extLst>
                  <a:ext uri="{0D108BD9-81ED-4DB2-BD59-A6C34878D82A}">
                    <a16:rowId xmlns:a16="http://schemas.microsoft.com/office/drawing/2014/main" val="10001"/>
                  </a:ext>
                </a:extLst>
              </a:tr>
              <a:tr h="870000">
                <a:tc>
                  <a:txBody>
                    <a:bodyPr/>
                    <a:lstStyle/>
                    <a:p>
                      <a:pPr algn="ctr"/>
                      <a:r>
                        <a:rPr lang="en-US" sz="1200" dirty="0"/>
                        <a:t>12</a:t>
                      </a:r>
                    </a:p>
                  </a:txBody>
                  <a:tcPr/>
                </a:tc>
                <a:tc>
                  <a:txBody>
                    <a:bodyPr/>
                    <a:lstStyle/>
                    <a:p>
                      <a:pPr algn="l"/>
                      <a:r>
                        <a:rPr lang="en-US" sz="1200" dirty="0"/>
                        <a:t>AI-Based Wearable Navigation System using YOLOv5</a:t>
                      </a:r>
                    </a:p>
                  </a:txBody>
                  <a:tcPr/>
                </a:tc>
                <a:tc>
                  <a:txBody>
                    <a:bodyPr/>
                    <a:lstStyle/>
                    <a:p>
                      <a:pPr algn="l"/>
                      <a:r>
                        <a:rPr lang="en-US" sz="1200" dirty="0"/>
                        <a:t>COCO dataset + custom dataset</a:t>
                      </a:r>
                    </a:p>
                  </a:txBody>
                  <a:tcPr/>
                </a:tc>
                <a:tc>
                  <a:txBody>
                    <a:bodyPr/>
                    <a:lstStyle/>
                    <a:p>
                      <a:pPr algn="l"/>
                      <a:r>
                        <a:rPr lang="en-US" sz="1200" dirty="0"/>
                        <a:t>YOLOv5 for real-time object detection with voice feedback</a:t>
                      </a:r>
                    </a:p>
                  </a:txBody>
                  <a:tcPr/>
                </a:tc>
                <a:tc>
                  <a:txBody>
                    <a:bodyPr/>
                    <a:lstStyle/>
                    <a:p>
                      <a:pPr algn="l"/>
                      <a:r>
                        <a:rPr lang="en-US" sz="1200" dirty="0"/>
                        <a:t>Uses YOLOv5 for fast, real-time object detection with voice feedback.</a:t>
                      </a:r>
                    </a:p>
                  </a:txBody>
                  <a:tcPr/>
                </a:tc>
                <a:tc>
                  <a:txBody>
                    <a:bodyPr/>
                    <a:lstStyle/>
                    <a:p>
                      <a:pPr algn="l"/>
                      <a:r>
                        <a:rPr lang="en-US" sz="1200" dirty="0"/>
                        <a:t>Requires GPU for optimal performance</a:t>
                      </a:r>
                    </a:p>
                  </a:txBody>
                  <a:tcPr/>
                </a:tc>
                <a:extLst>
                  <a:ext uri="{0D108BD9-81ED-4DB2-BD59-A6C34878D82A}">
                    <a16:rowId xmlns:a16="http://schemas.microsoft.com/office/drawing/2014/main" val="10002"/>
                  </a:ext>
                </a:extLst>
              </a:tr>
              <a:tr h="870000">
                <a:tc>
                  <a:txBody>
                    <a:bodyPr/>
                    <a:lstStyle/>
                    <a:p>
                      <a:pPr algn="ctr"/>
                      <a:r>
                        <a:rPr lang="en-US" sz="1200" dirty="0"/>
                        <a:t>13</a:t>
                      </a:r>
                    </a:p>
                  </a:txBody>
                  <a:tcPr/>
                </a:tc>
                <a:tc>
                  <a:txBody>
                    <a:bodyPr/>
                    <a:lstStyle/>
                    <a:p>
                      <a:pPr algn="l"/>
                      <a:r>
                        <a:rPr lang="en-US" sz="1200" dirty="0"/>
                        <a:t>Real-Time Scene Understanding for Visually Impaired using CNN</a:t>
                      </a:r>
                    </a:p>
                  </a:txBody>
                  <a:tcPr/>
                </a:tc>
                <a:tc>
                  <a:txBody>
                    <a:bodyPr/>
                    <a:lstStyle/>
                    <a:p>
                      <a:pPr algn="l"/>
                      <a:r>
                        <a:rPr lang="en-US" sz="1200" dirty="0"/>
                        <a:t>ADE20K dataset</a:t>
                      </a:r>
                    </a:p>
                  </a:txBody>
                  <a:tcPr/>
                </a:tc>
                <a:tc>
                  <a:txBody>
                    <a:bodyPr/>
                    <a:lstStyle/>
                    <a:p>
                      <a:pPr algn="l"/>
                      <a:r>
                        <a:rPr lang="en-US" sz="1200" dirty="0"/>
                        <a:t>CNN-based scene classification and object detection</a:t>
                      </a:r>
                    </a:p>
                  </a:txBody>
                  <a:tcPr/>
                </a:tc>
                <a:tc>
                  <a:txBody>
                    <a:bodyPr/>
                    <a:lstStyle/>
                    <a:p>
                      <a:pPr algn="l"/>
                      <a:r>
                        <a:rPr lang="en-US" sz="1200" dirty="0"/>
                        <a:t>Applies CNN-based scene classification and object detection.</a:t>
                      </a:r>
                    </a:p>
                  </a:txBody>
                  <a:tcPr/>
                </a:tc>
                <a:tc>
                  <a:txBody>
                    <a:bodyPr/>
                    <a:lstStyle/>
                    <a:p>
                      <a:pPr algn="l"/>
                      <a:r>
                        <a:rPr lang="en-US" sz="1200" dirty="0"/>
                        <a:t>Limited real-time efficiency</a:t>
                      </a:r>
                    </a:p>
                  </a:txBody>
                  <a:tcPr/>
                </a:tc>
                <a:extLst>
                  <a:ext uri="{0D108BD9-81ED-4DB2-BD59-A6C34878D82A}">
                    <a16:rowId xmlns:a16="http://schemas.microsoft.com/office/drawing/2014/main" val="10003"/>
                  </a:ext>
                </a:extLst>
              </a:tr>
              <a:tr h="870000">
                <a:tc>
                  <a:txBody>
                    <a:bodyPr/>
                    <a:lstStyle/>
                    <a:p>
                      <a:pPr algn="ctr"/>
                      <a:r>
                        <a:rPr lang="en-US" sz="1200" dirty="0"/>
                        <a:t>14</a:t>
                      </a:r>
                    </a:p>
                  </a:txBody>
                  <a:tcPr/>
                </a:tc>
                <a:tc>
                  <a:txBody>
                    <a:bodyPr/>
                    <a:lstStyle/>
                    <a:p>
                      <a:pPr algn="l"/>
                      <a:r>
                        <a:rPr lang="en-US" sz="1200" dirty="0"/>
                        <a:t>Assistive System using Semantic Segmentation for Navigation</a:t>
                      </a:r>
                    </a:p>
                  </a:txBody>
                  <a:tcPr/>
                </a:tc>
                <a:tc>
                  <a:txBody>
                    <a:bodyPr/>
                    <a:lstStyle/>
                    <a:p>
                      <a:pPr algn="l"/>
                      <a:r>
                        <a:rPr lang="en-US" sz="1200" dirty="0"/>
                        <a:t>Cityscapes dataset</a:t>
                      </a:r>
                    </a:p>
                  </a:txBody>
                  <a:tcPr/>
                </a:tc>
                <a:tc>
                  <a:txBody>
                    <a:bodyPr/>
                    <a:lstStyle/>
                    <a:p>
                      <a:pPr algn="l"/>
                      <a:r>
                        <a:rPr lang="en-US" sz="1200" dirty="0"/>
                        <a:t>Semantic segmentation for path detection and obstacle avoidance</a:t>
                      </a:r>
                    </a:p>
                  </a:txBody>
                  <a:tcPr/>
                </a:tc>
                <a:tc>
                  <a:txBody>
                    <a:bodyPr/>
                    <a:lstStyle/>
                    <a:p>
                      <a:pPr algn="l"/>
                      <a:r>
                        <a:rPr lang="en-US" sz="1200" dirty="0"/>
                        <a:t>Uses Semantic Segmentation for precise path detection and obstacle avoidance.</a:t>
                      </a:r>
                    </a:p>
                  </a:txBody>
                  <a:tcPr/>
                </a:tc>
                <a:tc>
                  <a:txBody>
                    <a:bodyPr/>
                    <a:lstStyle/>
                    <a:p>
                      <a:pPr algn="l"/>
                      <a:r>
                        <a:rPr lang="en-US" sz="1200" dirty="0"/>
                        <a:t>High computational cost; requires powerful hardware</a:t>
                      </a:r>
                    </a:p>
                  </a:txBody>
                  <a:tcPr/>
                </a:tc>
                <a:extLst>
                  <a:ext uri="{0D108BD9-81ED-4DB2-BD59-A6C34878D82A}">
                    <a16:rowId xmlns:a16="http://schemas.microsoft.com/office/drawing/2014/main" val="10004"/>
                  </a:ext>
                </a:extLst>
              </a:tr>
              <a:tr h="870000">
                <a:tc>
                  <a:txBody>
                    <a:bodyPr/>
                    <a:lstStyle/>
                    <a:p>
                      <a:pPr algn="ctr"/>
                      <a:r>
                        <a:rPr lang="en-US" sz="1200" dirty="0"/>
                        <a:t>15</a:t>
                      </a:r>
                    </a:p>
                  </a:txBody>
                  <a:tcPr/>
                </a:tc>
                <a:tc>
                  <a:txBody>
                    <a:bodyPr/>
                    <a:lstStyle/>
                    <a:p>
                      <a:pPr algn="l"/>
                      <a:r>
                        <a:rPr lang="en-US" sz="1200" dirty="0"/>
                        <a:t>Smart Glasses for Blind using Deep Learning</a:t>
                      </a:r>
                    </a:p>
                  </a:txBody>
                  <a:tcPr/>
                </a:tc>
                <a:tc>
                  <a:txBody>
                    <a:bodyPr/>
                    <a:lstStyle/>
                    <a:p>
                      <a:pPr algn="l"/>
                      <a:r>
                        <a:rPr lang="en-US" sz="1200" dirty="0"/>
                        <a:t>Custom dataset</a:t>
                      </a:r>
                    </a:p>
                  </a:txBody>
                  <a:tcPr/>
                </a:tc>
                <a:tc>
                  <a:txBody>
                    <a:bodyPr/>
                    <a:lstStyle/>
                    <a:p>
                      <a:pPr algn="l"/>
                      <a:r>
                        <a:rPr lang="en-US" sz="1200" dirty="0"/>
                        <a:t>Deep learning (CNN + object detection) integrated into wearable glasses</a:t>
                      </a:r>
                    </a:p>
                  </a:txBody>
                  <a:tcPr/>
                </a:tc>
                <a:tc>
                  <a:txBody>
                    <a:bodyPr/>
                    <a:lstStyle/>
                    <a:p>
                      <a:pPr algn="l"/>
                      <a:r>
                        <a:rPr lang="en-US" sz="1200" dirty="0"/>
                        <a:t>Deep learning (CNN + object detection) integrated directly into wearable glasses.</a:t>
                      </a:r>
                    </a:p>
                  </a:txBody>
                  <a:tcPr/>
                </a:tc>
                <a:tc>
                  <a:txBody>
                    <a:bodyPr/>
                    <a:lstStyle/>
                    <a:p>
                      <a:pPr algn="l"/>
                      <a:r>
                        <a:rPr lang="en-US" sz="1200" dirty="0"/>
                        <a:t>Limited battery life and hardware dependency</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E017A58E-E7C5-E9B5-371F-4441DC16D680}"/>
              </a:ext>
            </a:extLst>
          </p:cNvPr>
          <p:cNvSpPr txBox="1">
            <a:spLocks/>
          </p:cNvSpPr>
          <p:nvPr/>
        </p:nvSpPr>
        <p:spPr>
          <a:xfrm>
            <a:off x="2477729" y="428152"/>
            <a:ext cx="7067271" cy="104452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dirty="0">
                <a:latin typeface="Times New Roman" pitchFamily="18" charset="0"/>
                <a:cs typeface="Times New Roman" pitchFamily="18" charset="0"/>
              </a:rPr>
              <a:t>Research Gap</a:t>
            </a:r>
          </a:p>
        </p:txBody>
      </p:sp>
      <p:sp>
        <p:nvSpPr>
          <p:cNvPr id="3" name="TextBox 2">
            <a:extLst>
              <a:ext uri="{FF2B5EF4-FFF2-40B4-BE49-F238E27FC236}">
                <a16:creationId xmlns:a16="http://schemas.microsoft.com/office/drawing/2014/main" id="{672639AC-9E27-1744-C745-14E04167C8BF}"/>
              </a:ext>
            </a:extLst>
          </p:cNvPr>
          <p:cNvSpPr txBox="1"/>
          <p:nvPr/>
        </p:nvSpPr>
        <p:spPr>
          <a:xfrm>
            <a:off x="304800" y="1641539"/>
            <a:ext cx="11582400" cy="400110"/>
          </a:xfrm>
          <a:prstGeom prst="rect">
            <a:avLst/>
          </a:prstGeom>
          <a:noFill/>
        </p:spPr>
        <p:txBody>
          <a:bodyPr wrap="square" rtlCol="0">
            <a:spAutoFit/>
          </a:bodyPr>
          <a:lstStyle/>
          <a:p>
            <a:endParaRPr lang="en-IN" sz="2000" dirty="0"/>
          </a:p>
        </p:txBody>
      </p:sp>
      <p:sp>
        <p:nvSpPr>
          <p:cNvPr id="4" name="Rectangle 1">
            <a:extLst>
              <a:ext uri="{FF2B5EF4-FFF2-40B4-BE49-F238E27FC236}">
                <a16:creationId xmlns:a16="http://schemas.microsoft.com/office/drawing/2014/main" id="{F15444D8-E518-A2B8-919A-B1D9C54E365A}"/>
              </a:ext>
            </a:extLst>
          </p:cNvPr>
          <p:cNvSpPr>
            <a:spLocks noChangeArrowheads="1"/>
          </p:cNvSpPr>
          <p:nvPr/>
        </p:nvSpPr>
        <p:spPr bwMode="auto">
          <a:xfrm>
            <a:off x="570270" y="1943442"/>
            <a:ext cx="11090788"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Although many assistive systems have been proposed, a significant gap remains in creating an all-in-one, affordable solution.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Most existing systems rely heavily on cloud computing for complex tasks like scene description and OCR, resulting in high latency and requiring a constant internet connection, which is not practical for active mobility.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Hardware-centric solutions (like Lidar-equipped smart glasses) are often too expensive and bulky for widespread daily use by the visually impaired community.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Furthermore, many computer vision models are trained solely on general datasets (like COCO) and fail to recognize specific navigational hazards, such as overhead branches, open manholes, or waist-high barriers.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Our project aims to bridge this gap by integrating optimized object detection (YOLOv8), distance estimation, and OCR into a single, lightweight application capable of running locally on edge devices (smartphones/Raspberry Pi) with real-time audio feedback.</a:t>
            </a:r>
          </a:p>
        </p:txBody>
      </p:sp>
    </p:spTree>
    <p:extLst>
      <p:ext uri="{BB962C8B-B14F-4D97-AF65-F5344CB8AC3E}">
        <p14:creationId xmlns:p14="http://schemas.microsoft.com/office/powerpoint/2010/main" val="1797186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04CFA-D639-2065-484C-9E62D5D4B2DA}"/>
            </a:ext>
          </a:extLst>
        </p:cNvPr>
        <p:cNvGrpSpPr/>
        <p:nvPr/>
      </p:nvGrpSpPr>
      <p:grpSpPr>
        <a:xfrm>
          <a:off x="0" y="0"/>
          <a:ext cx="0" cy="0"/>
          <a:chOff x="0" y="0"/>
          <a:chExt cx="0" cy="0"/>
        </a:xfrm>
      </p:grpSpPr>
      <p:sp>
        <p:nvSpPr>
          <p:cNvPr id="2" name="Title 3">
            <a:extLst>
              <a:ext uri="{FF2B5EF4-FFF2-40B4-BE49-F238E27FC236}">
                <a16:creationId xmlns:a16="http://schemas.microsoft.com/office/drawing/2014/main" id="{4E5DA7B7-9693-570A-BCF4-10BA1F7205BC}"/>
              </a:ext>
            </a:extLst>
          </p:cNvPr>
          <p:cNvSpPr txBox="1">
            <a:spLocks/>
          </p:cNvSpPr>
          <p:nvPr/>
        </p:nvSpPr>
        <p:spPr>
          <a:xfrm>
            <a:off x="2477729" y="428152"/>
            <a:ext cx="7067271" cy="104452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Times New Roman" pitchFamily="18" charset="0"/>
                <a:cs typeface="Times New Roman" pitchFamily="18" charset="0"/>
              </a:rPr>
              <a:t>S</a:t>
            </a:r>
            <a:r>
              <a:rPr lang="en-IN" sz="4000" b="1" dirty="0" err="1">
                <a:latin typeface="Times New Roman" pitchFamily="18" charset="0"/>
                <a:cs typeface="Times New Roman" pitchFamily="18" charset="0"/>
              </a:rPr>
              <a:t>ystem</a:t>
            </a:r>
            <a:r>
              <a:rPr lang="en-IN" sz="4000" b="1" dirty="0">
                <a:latin typeface="Times New Roman" pitchFamily="18" charset="0"/>
                <a:cs typeface="Times New Roman" pitchFamily="18" charset="0"/>
              </a:rPr>
              <a:t> Architecture</a:t>
            </a:r>
          </a:p>
          <a:p>
            <a:endParaRPr lang="en-IN" sz="4000" b="1"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8DBA04BD-FF16-8D8F-6C20-684FA2637986}"/>
              </a:ext>
            </a:extLst>
          </p:cNvPr>
          <p:cNvSpPr txBox="1"/>
          <p:nvPr/>
        </p:nvSpPr>
        <p:spPr>
          <a:xfrm>
            <a:off x="304800" y="1641539"/>
            <a:ext cx="11582400" cy="400110"/>
          </a:xfrm>
          <a:prstGeom prst="rect">
            <a:avLst/>
          </a:prstGeom>
          <a:noFill/>
        </p:spPr>
        <p:txBody>
          <a:bodyPr wrap="square" rtlCol="0">
            <a:spAutoFit/>
          </a:bodyPr>
          <a:lstStyle/>
          <a:p>
            <a:endParaRPr lang="en-IN" sz="2000" dirty="0"/>
          </a:p>
        </p:txBody>
      </p:sp>
      <p:pic>
        <p:nvPicPr>
          <p:cNvPr id="6" name="Picture 5">
            <a:extLst>
              <a:ext uri="{FF2B5EF4-FFF2-40B4-BE49-F238E27FC236}">
                <a16:creationId xmlns:a16="http://schemas.microsoft.com/office/drawing/2014/main" id="{AF749597-0B1B-CE7F-007F-822B4EB83CDB}"/>
              </a:ext>
            </a:extLst>
          </p:cNvPr>
          <p:cNvPicPr>
            <a:picLocks noChangeAspect="1"/>
          </p:cNvPicPr>
          <p:nvPr/>
        </p:nvPicPr>
        <p:blipFill>
          <a:blip r:embed="rId2"/>
          <a:stretch>
            <a:fillRect/>
          </a:stretch>
        </p:blipFill>
        <p:spPr>
          <a:xfrm>
            <a:off x="2477729" y="1268361"/>
            <a:ext cx="7330876" cy="4965291"/>
          </a:xfrm>
          <a:prstGeom prst="rect">
            <a:avLst/>
          </a:prstGeom>
        </p:spPr>
      </p:pic>
    </p:spTree>
    <p:extLst>
      <p:ext uri="{BB962C8B-B14F-4D97-AF65-F5344CB8AC3E}">
        <p14:creationId xmlns:p14="http://schemas.microsoft.com/office/powerpoint/2010/main" val="2708254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652D76-2DA6-4100-A7B2-419947E2C3B5}"/>
              </a:ext>
            </a:extLst>
          </p:cNvPr>
          <p:cNvSpPr txBox="1"/>
          <p:nvPr/>
        </p:nvSpPr>
        <p:spPr>
          <a:xfrm>
            <a:off x="2376675" y="449242"/>
            <a:ext cx="6096000" cy="646331"/>
          </a:xfrm>
          <a:prstGeom prst="rect">
            <a:avLst/>
          </a:prstGeom>
          <a:noFill/>
        </p:spPr>
        <p:txBody>
          <a:bodyPr wrap="square">
            <a:spAutoFit/>
          </a:bodyPr>
          <a:lstStyle/>
          <a:p>
            <a:pPr>
              <a:lnSpc>
                <a:spcPct val="90000"/>
              </a:lnSpc>
              <a:spcBef>
                <a:spcPct val="0"/>
              </a:spcBef>
            </a:pPr>
            <a:r>
              <a:rPr lang="en-IN" sz="4000" b="1" dirty="0">
                <a:latin typeface="Times New Roman" pitchFamily="18" charset="0"/>
                <a:ea typeface="+mj-ea"/>
                <a:cs typeface="Times New Roman" pitchFamily="18" charset="0"/>
              </a:rPr>
              <a:t>Application/Use Cases</a:t>
            </a:r>
          </a:p>
        </p:txBody>
      </p:sp>
      <p:sp>
        <p:nvSpPr>
          <p:cNvPr id="5" name="Rectangle 2">
            <a:extLst>
              <a:ext uri="{FF2B5EF4-FFF2-40B4-BE49-F238E27FC236}">
                <a16:creationId xmlns:a16="http://schemas.microsoft.com/office/drawing/2014/main" id="{E230075A-2CEF-A871-9606-DE0FE12A7162}"/>
              </a:ext>
            </a:extLst>
          </p:cNvPr>
          <p:cNvSpPr>
            <a:spLocks noChangeArrowheads="1"/>
          </p:cNvSpPr>
          <p:nvPr/>
        </p:nvSpPr>
        <p:spPr bwMode="auto">
          <a:xfrm>
            <a:off x="1228492" y="1443841"/>
            <a:ext cx="871937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Application/Use Cases (Practical Scenarios)</a:t>
            </a:r>
            <a:endParaRPr lang="en-US" dirty="0"/>
          </a:p>
          <a:p>
            <a:r>
              <a:rPr lang="en-US" b="1" dirty="0"/>
              <a:t>Safe Pedestrian Navigation:</a:t>
            </a:r>
            <a:r>
              <a:rPr lang="en-US" dirty="0"/>
              <a:t> Alerts users to immediate obstacles like parked cars, poles, open manholes, and overhead branches while walking on sidewalks.</a:t>
            </a:r>
          </a:p>
          <a:p>
            <a:r>
              <a:rPr lang="en-US" b="1" dirty="0"/>
              <a:t>Public Transit Assistance:</a:t>
            </a:r>
            <a:r>
              <a:rPr lang="en-US" dirty="0"/>
              <a:t> Helps users locate bus stops, identify arriving bus numbers, and safely find train doors.</a:t>
            </a:r>
          </a:p>
          <a:p>
            <a:r>
              <a:rPr lang="en-US" b="1" dirty="0"/>
              <a:t>Indoor Mobility:</a:t>
            </a:r>
            <a:r>
              <a:rPr lang="en-US" dirty="0"/>
              <a:t> Assists in navigating unfamiliar buildings, identifying stairs, doors, and elevators in offices or hospitals.</a:t>
            </a:r>
          </a:p>
          <a:p>
            <a:r>
              <a:rPr lang="en-US" b="1" dirty="0"/>
              <a:t>Reading and Information Access:</a:t>
            </a:r>
            <a:r>
              <a:rPr lang="en-US" dirty="0"/>
              <a:t> Allows users to independently read restaurant menus, grocery store labels, and warning signs via OCR and TTS.</a:t>
            </a:r>
          </a:p>
          <a:p>
            <a:r>
              <a:rPr lang="en-US" b="1" dirty="0"/>
              <a:t>Social Interaction:</a:t>
            </a:r>
            <a:r>
              <a:rPr lang="en-US" dirty="0"/>
              <a:t> Empowers users to know how many people are in a room or identify saved faces (friends/family) in social gatherings.</a:t>
            </a:r>
          </a:p>
          <a:p>
            <a:r>
              <a:rPr lang="en-US" b="1" dirty="0"/>
              <a:t>Smart City Integration:</a:t>
            </a:r>
            <a:r>
              <a:rPr lang="en-US" dirty="0"/>
              <a:t> Can be synced with smart pedestrian crossing signals for safer street traversal.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32023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94FA88D-D062-4B94-91C3-C94C9B76D602}"/>
              </a:ext>
            </a:extLst>
          </p:cNvPr>
          <p:cNvSpPr txBox="1"/>
          <p:nvPr/>
        </p:nvSpPr>
        <p:spPr>
          <a:xfrm>
            <a:off x="2397888" y="301546"/>
            <a:ext cx="8839200" cy="646331"/>
          </a:xfrm>
          <a:prstGeom prst="rect">
            <a:avLst/>
          </a:prstGeom>
          <a:noFill/>
        </p:spPr>
        <p:txBody>
          <a:bodyPr wrap="square">
            <a:spAutoFit/>
          </a:bodyPr>
          <a:lstStyle/>
          <a:p>
            <a:pPr>
              <a:lnSpc>
                <a:spcPct val="90000"/>
              </a:lnSpc>
              <a:spcBef>
                <a:spcPct val="0"/>
              </a:spcBef>
            </a:pPr>
            <a:r>
              <a:rPr lang="en-US" sz="4000" b="1" dirty="0">
                <a:latin typeface="Times New Roman" pitchFamily="18" charset="0"/>
                <a:ea typeface="+mj-ea"/>
                <a:cs typeface="Times New Roman" pitchFamily="18" charset="0"/>
              </a:rPr>
              <a:t>Expected Deliver in Phase1 and Phase 2 </a:t>
            </a:r>
          </a:p>
        </p:txBody>
      </p:sp>
      <p:sp>
        <p:nvSpPr>
          <p:cNvPr id="6" name="Rectangle 3">
            <a:extLst>
              <a:ext uri="{FF2B5EF4-FFF2-40B4-BE49-F238E27FC236}">
                <a16:creationId xmlns:a16="http://schemas.microsoft.com/office/drawing/2014/main" id="{E5194D22-CA11-54B5-FB99-0E701B672242}"/>
              </a:ext>
            </a:extLst>
          </p:cNvPr>
          <p:cNvSpPr>
            <a:spLocks noChangeArrowheads="1"/>
          </p:cNvSpPr>
          <p:nvPr/>
        </p:nvSpPr>
        <p:spPr bwMode="auto">
          <a:xfrm>
            <a:off x="2397888" y="1597892"/>
            <a:ext cx="8246346"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a:t>Phase 1 Deliverables (Months 1–3)</a:t>
            </a:r>
            <a:endParaRPr lang="en-US" sz="2000" dirty="0"/>
          </a:p>
          <a:p>
            <a:r>
              <a:rPr lang="en-US" sz="2000" b="1" dirty="0"/>
              <a:t>D1.1 Comprehensive Literature Review:</a:t>
            </a:r>
            <a:r>
              <a:rPr lang="en-US" sz="2000" dirty="0"/>
              <a:t> Documented survey of 15+ AI assistive technology studies with method, accuracy, and gap analysis.</a:t>
            </a:r>
          </a:p>
          <a:p>
            <a:r>
              <a:rPr lang="en-US" sz="2000" b="1" dirty="0"/>
              <a:t>D1.2 Dataset Preparation:</a:t>
            </a:r>
            <a:r>
              <a:rPr lang="en-US" sz="2000" dirty="0"/>
              <a:t> Curated image dataset containing common mobility obstacles, overhead hazards, and street signs.</a:t>
            </a:r>
          </a:p>
          <a:p>
            <a:r>
              <a:rPr lang="en-US" sz="2000" b="1" dirty="0"/>
              <a:t>D1.3 YOLOv8 Detection Module:</a:t>
            </a:r>
            <a:r>
              <a:rPr lang="en-US" sz="2000" dirty="0"/>
              <a:t> Trained and validated YOLOv8 model tailored for obstacle detection, achieving real-time inference (&gt;30 FPS) on standard hardware.</a:t>
            </a:r>
          </a:p>
          <a:p>
            <a:r>
              <a:rPr lang="en-US" sz="2000" b="1" dirty="0"/>
              <a:t>D1.4 Text-to-Speech (TTS) Integration:</a:t>
            </a:r>
            <a:r>
              <a:rPr lang="en-US" sz="2000" dirty="0"/>
              <a:t> Basic integration of a TTS API to convert string outputs (e.g., "Chair detected") into auditory alerts.</a:t>
            </a:r>
          </a:p>
          <a:p>
            <a:r>
              <a:rPr lang="en-US" sz="2000" b="1" dirty="0"/>
              <a:t>D1.5 Phase 1 Report &amp; Demo:</a:t>
            </a:r>
            <a:r>
              <a:rPr lang="en-US" sz="2000" dirty="0"/>
              <a:t> Written report and a live software demo showing object detection and audio feedback on pre-recorded walking footage.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080983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01EFE-E054-43E5-796B-8504DBC9C048}"/>
              </a:ext>
            </a:extLst>
          </p:cNvPr>
          <p:cNvSpPr>
            <a:spLocks noGrp="1"/>
          </p:cNvSpPr>
          <p:nvPr>
            <p:ph type="ctrTitle"/>
          </p:nvPr>
        </p:nvSpPr>
        <p:spPr>
          <a:xfrm>
            <a:off x="1381432" y="959619"/>
            <a:ext cx="10043652" cy="1024039"/>
          </a:xfrm>
        </p:spPr>
        <p:txBody>
          <a:bodyPr/>
          <a:lstStyle/>
          <a:p>
            <a:r>
              <a:rPr lang="en-US" sz="3800" b="1" dirty="0">
                <a:latin typeface="Times New Roman" pitchFamily="18" charset="0"/>
                <a:cs typeface="Times New Roman" pitchFamily="18" charset="0"/>
              </a:rPr>
              <a:t>Expected Deliver in Phase1 and Phase2 (</a:t>
            </a:r>
            <a:r>
              <a:rPr lang="en-US" sz="3800" b="1" dirty="0" err="1">
                <a:latin typeface="Times New Roman" pitchFamily="18" charset="0"/>
                <a:cs typeface="Times New Roman" pitchFamily="18" charset="0"/>
              </a:rPr>
              <a:t>Cont</a:t>
            </a:r>
            <a:r>
              <a:rPr lang="en-US" sz="3800" b="1" dirty="0">
                <a:latin typeface="Times New Roman" pitchFamily="18" charset="0"/>
                <a:cs typeface="Times New Roman" pitchFamily="18" charset="0"/>
              </a:rPr>
              <a:t>….)</a:t>
            </a:r>
            <a:br>
              <a:rPr lang="en-US" sz="3800" b="1" dirty="0">
                <a:latin typeface="Times New Roman" pitchFamily="18" charset="0"/>
                <a:cs typeface="Times New Roman" pitchFamily="18" charset="0"/>
              </a:rPr>
            </a:br>
            <a:endParaRPr lang="en-IN" sz="3800" dirty="0"/>
          </a:p>
        </p:txBody>
      </p:sp>
      <p:sp>
        <p:nvSpPr>
          <p:cNvPr id="3" name="Subtitle 2">
            <a:extLst>
              <a:ext uri="{FF2B5EF4-FFF2-40B4-BE49-F238E27FC236}">
                <a16:creationId xmlns:a16="http://schemas.microsoft.com/office/drawing/2014/main" id="{69C0CBAD-7E9F-5259-422E-8197DA24952E}"/>
              </a:ext>
            </a:extLst>
          </p:cNvPr>
          <p:cNvSpPr>
            <a:spLocks noGrp="1"/>
          </p:cNvSpPr>
          <p:nvPr>
            <p:ph type="subTitle" idx="1"/>
          </p:nvPr>
        </p:nvSpPr>
        <p:spPr>
          <a:xfrm>
            <a:off x="1268361" y="1799303"/>
            <a:ext cx="9399639" cy="3566652"/>
          </a:xfrm>
        </p:spPr>
        <p:txBody>
          <a:bodyPr/>
          <a:lstStyle/>
          <a:p>
            <a:pPr algn="l">
              <a:lnSpc>
                <a:spcPts val="2000"/>
              </a:lnSpc>
            </a:pPr>
            <a:endParaRPr lang="en-US" b="1" dirty="0"/>
          </a:p>
          <a:p>
            <a:pPr algn="l"/>
            <a:endParaRPr lang="en-IN" dirty="0"/>
          </a:p>
        </p:txBody>
      </p:sp>
      <p:sp>
        <p:nvSpPr>
          <p:cNvPr id="5" name="Rectangle 2">
            <a:extLst>
              <a:ext uri="{FF2B5EF4-FFF2-40B4-BE49-F238E27FC236}">
                <a16:creationId xmlns:a16="http://schemas.microsoft.com/office/drawing/2014/main" id="{B3A65F07-73A8-08A4-C1AE-82781145261A}"/>
              </a:ext>
            </a:extLst>
          </p:cNvPr>
          <p:cNvSpPr>
            <a:spLocks noChangeArrowheads="1"/>
          </p:cNvSpPr>
          <p:nvPr/>
        </p:nvSpPr>
        <p:spPr bwMode="auto">
          <a:xfrm>
            <a:off x="2246670" y="1651064"/>
            <a:ext cx="8013291"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Phase 2 Deliverables (Months 4–6)</a:t>
            </a:r>
            <a:endParaRPr lang="en-US" dirty="0"/>
          </a:p>
          <a:p>
            <a:r>
              <a:rPr lang="en-US" b="1" dirty="0"/>
              <a:t>D2.1 Distance Estimation Module:</a:t>
            </a:r>
            <a:r>
              <a:rPr lang="en-US" dirty="0"/>
              <a:t> Implementation of monocular depth estimation to calculate how far an obstacle is from the user, allowing for prioritized "urgent" alerts.</a:t>
            </a:r>
          </a:p>
          <a:p>
            <a:r>
              <a:rPr lang="en-US" b="1" dirty="0"/>
              <a:t>D2.2 OCR Pipeline Integration:</a:t>
            </a:r>
            <a:r>
              <a:rPr lang="en-US" dirty="0"/>
              <a:t> Full integration of an OCR model (like EasyOCR or Tesseract) capable of reading text in the camera's view.</a:t>
            </a:r>
          </a:p>
          <a:p>
            <a:r>
              <a:rPr lang="en-US" b="1" dirty="0"/>
              <a:t>D2.3 End-to-End System Deployment:</a:t>
            </a:r>
            <a:r>
              <a:rPr lang="en-US" dirty="0"/>
              <a:t> Complete integrated pipeline running on edge hardware (e.g., a smartphone app or Raspberry Pi with camera), processing camera input → detection → depth → TTS audio.</a:t>
            </a:r>
          </a:p>
          <a:p>
            <a:r>
              <a:rPr lang="en-US" b="1" dirty="0"/>
              <a:t>D2.4 Final Evaluation &amp; User Testing:</a:t>
            </a:r>
            <a:r>
              <a:rPr lang="en-US" dirty="0"/>
              <a:t> Comprehensive performance report measuring system latency, detection accuracy, and usability feedback from blindfolded test subjects.</a:t>
            </a:r>
          </a:p>
          <a:p>
            <a:r>
              <a:rPr lang="en-US" b="1" dirty="0"/>
              <a:t>D2.5 Published Paper / Poster:</a:t>
            </a:r>
            <a:r>
              <a:rPr lang="en-US" dirty="0"/>
              <a:t> Research paper documenting the system design, latency benchmarks, and results.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20094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387F89-653D-3CCF-826D-A1440B4EEC36}"/>
              </a:ext>
            </a:extLst>
          </p:cNvPr>
          <p:cNvSpPr txBox="1"/>
          <p:nvPr/>
        </p:nvSpPr>
        <p:spPr>
          <a:xfrm>
            <a:off x="2367455" y="311667"/>
            <a:ext cx="7457090" cy="707886"/>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References</a:t>
            </a:r>
          </a:p>
        </p:txBody>
      </p:sp>
      <p:sp>
        <p:nvSpPr>
          <p:cNvPr id="10" name="TextBox 9">
            <a:extLst>
              <a:ext uri="{FF2B5EF4-FFF2-40B4-BE49-F238E27FC236}">
                <a16:creationId xmlns:a16="http://schemas.microsoft.com/office/drawing/2014/main" id="{FB981190-50FF-8EF8-C79A-0FFF366E6CC1}"/>
              </a:ext>
            </a:extLst>
          </p:cNvPr>
          <p:cNvSpPr txBox="1"/>
          <p:nvPr/>
        </p:nvSpPr>
        <p:spPr>
          <a:xfrm>
            <a:off x="1582993" y="4657893"/>
            <a:ext cx="11444748" cy="646331"/>
          </a:xfrm>
          <a:prstGeom prst="rect">
            <a:avLst/>
          </a:prstGeom>
          <a:noFill/>
        </p:spPr>
        <p:txBody>
          <a:bodyPr wrap="square" rtlCol="0">
            <a:spAutoFit/>
          </a:bodyPr>
          <a:lstStyle/>
          <a:p>
            <a:br>
              <a:rPr lang="en-US" dirty="0"/>
            </a:br>
            <a:endParaRPr lang="en-IN" dirty="0"/>
          </a:p>
        </p:txBody>
      </p:sp>
      <p:sp>
        <p:nvSpPr>
          <p:cNvPr id="11" name="Rectangle 5">
            <a:extLst>
              <a:ext uri="{FF2B5EF4-FFF2-40B4-BE49-F238E27FC236}">
                <a16:creationId xmlns:a16="http://schemas.microsoft.com/office/drawing/2014/main" id="{DAC04AC5-09CD-33A1-9B74-43DDE2F67883}"/>
              </a:ext>
            </a:extLst>
          </p:cNvPr>
          <p:cNvSpPr>
            <a:spLocks noChangeArrowheads="1"/>
          </p:cNvSpPr>
          <p:nvPr/>
        </p:nvSpPr>
        <p:spPr bwMode="auto">
          <a:xfrm>
            <a:off x="206479" y="3575525"/>
            <a:ext cx="12339484" cy="335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ts val="2000"/>
              </a:lnSpc>
            </a:pPr>
            <a:endParaRPr lang="en-US" sz="1500" dirty="0"/>
          </a:p>
        </p:txBody>
      </p:sp>
      <p:sp>
        <p:nvSpPr>
          <p:cNvPr id="4" name="TextBox 3">
            <a:extLst>
              <a:ext uri="{FF2B5EF4-FFF2-40B4-BE49-F238E27FC236}">
                <a16:creationId xmlns:a16="http://schemas.microsoft.com/office/drawing/2014/main" id="{733D91E8-BA7A-958A-BAE5-ACC65F2C07A3}"/>
              </a:ext>
            </a:extLst>
          </p:cNvPr>
          <p:cNvSpPr txBox="1"/>
          <p:nvPr/>
        </p:nvSpPr>
        <p:spPr>
          <a:xfrm>
            <a:off x="93406" y="1225689"/>
            <a:ext cx="12098594" cy="5062924"/>
          </a:xfrm>
          <a:prstGeom prst="rect">
            <a:avLst/>
          </a:prstGeom>
          <a:noFill/>
        </p:spPr>
        <p:txBody>
          <a:bodyPr wrap="square" rtlCol="0">
            <a:spAutoFit/>
          </a:bodyPr>
          <a:lstStyle/>
          <a:p>
            <a:r>
              <a:rPr lang="en-IN" sz="1700" dirty="0"/>
              <a:t>S. A. Author et al., "Computer Vision based Assistive Technology For Blind and Visually Impaired People," International Journal of Computer Vision, 2021.</a:t>
            </a:r>
          </a:p>
          <a:p>
            <a:r>
              <a:rPr lang="en-IN" sz="1700" dirty="0"/>
              <a:t>R. Kumar and P. Singh, "Assistive Technology for the Visually Impaired Using Computer Vision," IEEE Access, 2020.</a:t>
            </a:r>
          </a:p>
          <a:p>
            <a:r>
              <a:rPr lang="en-IN" sz="1700" dirty="0"/>
              <a:t>M. Sharma et al., "A Smart Assistive System for Visually Impaired People Using Deep Learning Techniques," Journal of Intelligent Systems, 2022.</a:t>
            </a:r>
          </a:p>
          <a:p>
            <a:r>
              <a:rPr lang="en-IN" sz="1700" dirty="0"/>
              <a:t>T. Li and H. Wang, "Vision-Based Mobile Indoor Assistive Navigation Aid for Blind People," IEEE Transactions on Neural Systems and Rehabilitation Engineering, 2019.</a:t>
            </a:r>
          </a:p>
          <a:p>
            <a:r>
              <a:rPr lang="en-IN" sz="1700" dirty="0"/>
              <a:t>T. Li and H. Wang, "Vision-Based Mobile Indoor Assistive Navigation Aid for Blind People (Extended)," IEEE Transactions on Neural Systems and Rehabilitation Engineering, 2020.</a:t>
            </a:r>
          </a:p>
          <a:p>
            <a:r>
              <a:rPr lang="en-IN" sz="1700" dirty="0"/>
              <a:t>A. Patel et al., "Real-Time Object Detection for Blind Navigation using YOLOv3," Procedia Computer Science, 2022.</a:t>
            </a:r>
          </a:p>
          <a:p>
            <a:r>
              <a:rPr lang="en-IN" sz="1700" dirty="0"/>
              <a:t>N. Verma and R. Das, "Deep Learning Based Smart Cane for Visually Impaired," Sensors, 2021.</a:t>
            </a:r>
          </a:p>
          <a:p>
            <a:r>
              <a:rPr lang="en-IN" sz="1700" dirty="0"/>
              <a:t>K. Mehta et al., "Wearable Assistive Device Using SSD for Object Detection," Applied Sciences, 2020.</a:t>
            </a:r>
          </a:p>
          <a:p>
            <a:r>
              <a:rPr lang="en-IN" sz="1700" dirty="0"/>
              <a:t>S. Gupta and A. Jain, "Assistive Navigation System using Faster R-CNN," Expert Systems with Applications, 2021.</a:t>
            </a:r>
          </a:p>
          <a:p>
            <a:r>
              <a:rPr lang="en-IN" sz="1700" dirty="0"/>
              <a:t>P. Reddy and M. Rao, "Smart Vision System for Blind using </a:t>
            </a:r>
            <a:r>
              <a:rPr lang="en-IN" sz="1700" dirty="0" err="1"/>
              <a:t>MobileNet</a:t>
            </a:r>
            <a:r>
              <a:rPr lang="en-IN" sz="1700" dirty="0"/>
              <a:t>," Neural Computing and Applications, 2022.</a:t>
            </a:r>
          </a:p>
          <a:p>
            <a:r>
              <a:rPr lang="en-IN" sz="1700" dirty="0"/>
              <a:t>L. Chen et al., "Obstacle Detection System using Depth Estimation and CNN," Pattern Recognition Letters, 2021.</a:t>
            </a:r>
          </a:p>
          <a:p>
            <a:r>
              <a:rPr lang="en-IN" sz="1700" dirty="0"/>
              <a:t>R. Ahmed and S. Malik, "AI-Based Wearable Navigation System using YOLOv5," Computers &amp; Electrical Engineering, 2023.</a:t>
            </a:r>
          </a:p>
          <a:p>
            <a:r>
              <a:rPr lang="en-IN" sz="1700" dirty="0"/>
              <a:t>H. Zhao et al., "Real-Time Scene Understanding for Visually Impaired using CNN," Image and Vision Computing, 2022.</a:t>
            </a:r>
          </a:p>
          <a:p>
            <a:r>
              <a:rPr lang="en-IN" sz="1700" dirty="0"/>
              <a:t>F. Islam and T. Hasan, "Assistive System using Semantic Segmentation for Navigation," Robotics and Autonomous Systems, 2023.</a:t>
            </a:r>
          </a:p>
          <a:p>
            <a:r>
              <a:rPr lang="en-IN" sz="1700" dirty="0"/>
              <a:t>Y. Zhang et al., "Smart Glasses for Blind using Deep Learning," IEEE Sensors Journal, 2022</a:t>
            </a:r>
          </a:p>
        </p:txBody>
      </p:sp>
    </p:spTree>
    <p:extLst>
      <p:ext uri="{BB962C8B-B14F-4D97-AF65-F5344CB8AC3E}">
        <p14:creationId xmlns:p14="http://schemas.microsoft.com/office/powerpoint/2010/main" val="3870875289"/>
      </p:ext>
    </p:extLst>
  </p:cSld>
  <p:clrMapOvr>
    <a:masterClrMapping/>
  </p:clrMapOvr>
</p:sld>
</file>

<file path=ppt/theme/theme1.xml><?xml version="1.0" encoding="utf-8"?>
<a:theme xmlns:a="http://schemas.openxmlformats.org/drawingml/2006/main" name="CITech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ITech Theme" id="{2AA8308E-5AF8-455C-BF32-5436D1478E52}" vid="{AA868099-EFF7-4C23-83B9-FCC905C44C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CTECH-TEMPLATE</Template>
  <TotalTime>10534</TotalTime>
  <Words>2181</Words>
  <Application>Microsoft Office PowerPoint</Application>
  <PresentationFormat>Widescreen</PresentationFormat>
  <Paragraphs>231</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CITech Theme</vt:lpstr>
      <vt:lpstr>Department of Computer Science &amp; Engineering</vt:lpstr>
      <vt:lpstr>PowerPoint Presentation</vt:lpstr>
      <vt:lpstr>Contents</vt:lpstr>
      <vt:lpstr>Introduction</vt:lpstr>
      <vt:lpstr>Introduction(Cont…)</vt:lpstr>
      <vt:lpstr>Problem  Statements </vt:lpstr>
      <vt:lpstr>Identified Objectives</vt:lpstr>
      <vt:lpstr>Literature  Survey</vt:lpstr>
      <vt:lpstr>Literature  Survey(Cont...)</vt:lpstr>
      <vt:lpstr>Literature  Survey(Cont...)</vt:lpstr>
      <vt:lpstr>PowerPoint Presentation</vt:lpstr>
      <vt:lpstr>PowerPoint Presentation</vt:lpstr>
      <vt:lpstr>PowerPoint Presentation</vt:lpstr>
      <vt:lpstr>PowerPoint Presentation</vt:lpstr>
      <vt:lpstr>Expected Deliver in Phase1 and Phase2 (Cont….)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Prof. Sandeep</dc:creator>
  <cp:lastModifiedBy>MONKEY D LUFFY</cp:lastModifiedBy>
  <cp:revision>110</cp:revision>
  <dcterms:created xsi:type="dcterms:W3CDTF">2020-08-31T05:52:39Z</dcterms:created>
  <dcterms:modified xsi:type="dcterms:W3CDTF">2026-06-06T17:59:09Z</dcterms:modified>
</cp:coreProperties>
</file>