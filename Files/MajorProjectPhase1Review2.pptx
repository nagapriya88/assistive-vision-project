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342" r:id="rId2"/>
    <p:sldId id="368" r:id="rId3"/>
    <p:sldId id="343" r:id="rId4"/>
    <p:sldId id="344" r:id="rId5"/>
    <p:sldId id="360" r:id="rId6"/>
    <p:sldId id="369" r:id="rId7"/>
    <p:sldId id="361" r:id="rId8"/>
    <p:sldId id="362" r:id="rId9"/>
    <p:sldId id="374" r:id="rId10"/>
    <p:sldId id="377" r:id="rId11"/>
    <p:sldId id="382" r:id="rId12"/>
    <p:sldId id="352" r:id="rId13"/>
    <p:sldId id="364" r:id="rId14"/>
    <p:sldId id="346" r:id="rId15"/>
    <p:sldId id="378" r:id="rId16"/>
    <p:sldId id="379" r:id="rId17"/>
    <p:sldId id="380" r:id="rId18"/>
    <p:sldId id="353" r:id="rId19"/>
    <p:sldId id="381" r:id="rId20"/>
    <p:sldId id="354" r:id="rId21"/>
    <p:sldId id="366" r:id="rId22"/>
    <p:sldId id="356" r:id="rId23"/>
    <p:sldId id="357" r:id="rId24"/>
    <p:sldId id="371" r:id="rId25"/>
    <p:sldId id="351"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7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47C9E-4665-4E33-98F6-83BEDCEB0F74}" type="datetimeFigureOut">
              <a:rPr lang="en-US" smtClean="0"/>
              <a:t>6/11/2026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B599D-1D5B-4EC3-A8A1-C8A1F6EF0C70}" type="slidenum">
              <a:rPr lang="en-US" smtClean="0"/>
              <a:t>‹#›</a:t>
            </a:fld>
            <a:endParaRPr lang="en-US"/>
          </a:p>
        </p:txBody>
      </p:sp>
    </p:spTree>
    <p:extLst>
      <p:ext uri="{BB962C8B-B14F-4D97-AF65-F5344CB8AC3E}">
        <p14:creationId xmlns:p14="http://schemas.microsoft.com/office/powerpoint/2010/main" val="1335145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A9D5623E-A03C-43D5-AF92-9CD87997A196}"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4749422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D5623E-A03C-43D5-AF92-9CD87997A196}"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4361208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A9D5623E-A03C-43D5-AF92-9CD87997A196}"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230596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9D5623E-A03C-43D5-AF92-9CD87997A196}"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5506563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9D5623E-A03C-43D5-AF92-9CD87997A196}" type="datetimeFigureOut">
              <a:rPr lang="en-US" smtClean="0"/>
              <a:t>6/11/2026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22891549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9D5623E-A03C-43D5-AF92-9CD87997A196}" type="datetimeFigureOut">
              <a:rPr lang="en-US" smtClean="0"/>
              <a:t>6/11/2026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29250597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9D5623E-A03C-43D5-AF92-9CD87997A196}" type="datetimeFigureOut">
              <a:rPr lang="en-US" smtClean="0"/>
              <a:t>6/11/2026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29784014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D5623E-A03C-43D5-AF92-9CD87997A196}"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27428203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A9D5623E-A03C-43D5-AF92-9CD87997A196}" type="datetimeFigureOut">
              <a:rPr lang="en-US" smtClean="0"/>
              <a:t>6/11/2026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868205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D5623E-A03C-43D5-AF92-9CD87997A196}"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718277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9D5623E-A03C-43D5-AF92-9CD87997A196}" type="datetimeFigureOut">
              <a:rPr lang="en-US" smtClean="0"/>
              <a:t>6/11/2026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03DE9A-DE9E-4F9F-8A08-837CC26C1739}" type="slidenum">
              <a:rPr lang="en-US" smtClean="0"/>
              <a:t>‹#›</a:t>
            </a:fld>
            <a:endParaRPr lang="en-US"/>
          </a:p>
        </p:txBody>
      </p:sp>
    </p:spTree>
    <p:extLst>
      <p:ext uri="{BB962C8B-B14F-4D97-AF65-F5344CB8AC3E}">
        <p14:creationId xmlns:p14="http://schemas.microsoft.com/office/powerpoint/2010/main" val="15938602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9D5623E-A03C-43D5-AF92-9CD87997A196}" type="datetimeFigureOut">
              <a:rPr lang="en-US" smtClean="0"/>
              <a:t>6/11/2026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03DE9A-DE9E-4F9F-8A08-837CC26C1739}" type="slidenum">
              <a:rPr lang="en-US" smtClean="0"/>
              <a:t>‹#›</a:t>
            </a:fld>
            <a:endParaRPr lang="en-US"/>
          </a:p>
        </p:txBody>
      </p:sp>
    </p:spTree>
    <p:extLst>
      <p:ext uri="{BB962C8B-B14F-4D97-AF65-F5344CB8AC3E}">
        <p14:creationId xmlns:p14="http://schemas.microsoft.com/office/powerpoint/2010/main" val="26526480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F8E32-EEB8-3304-A7F6-3755EA02CC0C}"/>
              </a:ext>
            </a:extLst>
          </p:cNvPr>
          <p:cNvSpPr>
            <a:spLocks noGrp="1"/>
          </p:cNvSpPr>
          <p:nvPr>
            <p:ph type="ctrTitle"/>
          </p:nvPr>
        </p:nvSpPr>
        <p:spPr/>
        <p:txBody>
          <a:bodyPr/>
          <a:lstStyle/>
          <a:p>
            <a:endParaRPr lang="en-IN"/>
          </a:p>
        </p:txBody>
      </p:sp>
      <p:sp>
        <p:nvSpPr>
          <p:cNvPr id="3" name="Rectangle 2">
            <a:extLst>
              <a:ext uri="{FF2B5EF4-FFF2-40B4-BE49-F238E27FC236}">
                <a16:creationId xmlns:a16="http://schemas.microsoft.com/office/drawing/2014/main" id="{6EFBC7ED-C4D0-75D2-AB58-3B866628123A}"/>
              </a:ext>
            </a:extLst>
          </p:cNvPr>
          <p:cNvSpPr/>
          <p:nvPr/>
        </p:nvSpPr>
        <p:spPr>
          <a:xfrm>
            <a:off x="9830" y="0"/>
            <a:ext cx="12192000" cy="6858000"/>
          </a:xfrm>
          <a:prstGeom prst="rect">
            <a:avLst/>
          </a:prstGeom>
          <a:solidFill>
            <a:srgbClr val="000A30"/>
          </a:solidFill>
          <a:ln>
            <a:noFill/>
          </a:ln>
        </p:spPr>
        <p:style>
          <a:lnRef idx="2">
            <a:schemeClr val="dk1">
              <a:shade val="50000"/>
            </a:schemeClr>
          </a:lnRef>
          <a:fillRef idx="1">
            <a:schemeClr val="dk1"/>
          </a:fillRef>
          <a:effectRef idx="0">
            <a:schemeClr val="dk1"/>
          </a:effectRef>
          <a:fontRef idx="minor">
            <a:schemeClr val="lt1"/>
          </a:fontRef>
        </p:style>
        <p:txBody>
          <a:bodyPr anchor="ctr"/>
          <a:lstStyle/>
          <a:p>
            <a:pPr algn="ctr">
              <a:defRPr/>
            </a:pPr>
            <a:endParaRPr lang="en-IN" dirty="0"/>
          </a:p>
        </p:txBody>
      </p:sp>
      <p:sp>
        <p:nvSpPr>
          <p:cNvPr id="4" name="TextBox 5">
            <a:extLst>
              <a:ext uri="{FF2B5EF4-FFF2-40B4-BE49-F238E27FC236}">
                <a16:creationId xmlns:a16="http://schemas.microsoft.com/office/drawing/2014/main" id="{4D868D8A-9C1D-28D9-119F-632298A0E006}"/>
              </a:ext>
            </a:extLst>
          </p:cNvPr>
          <p:cNvSpPr txBox="1">
            <a:spLocks noChangeArrowheads="1"/>
          </p:cNvSpPr>
          <p:nvPr/>
        </p:nvSpPr>
        <p:spPr bwMode="auto">
          <a:xfrm>
            <a:off x="4778475" y="6430275"/>
            <a:ext cx="263504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IN" dirty="0">
                <a:solidFill>
                  <a:schemeClr val="bg1"/>
                </a:solidFill>
              </a:rPr>
              <a:t>www.cambridge.edu.in</a:t>
            </a:r>
          </a:p>
        </p:txBody>
      </p:sp>
      <p:pic>
        <p:nvPicPr>
          <p:cNvPr id="6" name="Picture Placeholder 8">
            <a:extLst>
              <a:ext uri="{FF2B5EF4-FFF2-40B4-BE49-F238E27FC236}">
                <a16:creationId xmlns:a16="http://schemas.microsoft.com/office/drawing/2014/main" id="{3B069DFE-9E1E-8226-0350-5739C30AEE3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61" t="-110" r="36201" b="2740"/>
          <a:stretch/>
        </p:blipFill>
        <p:spPr>
          <a:xfrm>
            <a:off x="6334433" y="848261"/>
            <a:ext cx="5867400" cy="6009740"/>
          </a:xfrm>
          <a:custGeom>
            <a:avLst/>
            <a:gdLst>
              <a:gd name="connsiteX0" fmla="*/ 5919758 w 5919758"/>
              <a:gd name="connsiteY0" fmla="*/ 0 h 5825419"/>
              <a:gd name="connsiteX1" fmla="*/ 5919758 w 5919758"/>
              <a:gd name="connsiteY1" fmla="*/ 5825419 h 5825419"/>
              <a:gd name="connsiteX2" fmla="*/ 1120273 w 5919758"/>
              <a:gd name="connsiteY2" fmla="*/ 5825419 h 5825419"/>
              <a:gd name="connsiteX3" fmla="*/ 0 w 5919758"/>
              <a:gd name="connsiteY3" fmla="*/ 1588036 h 5825419"/>
            </a:gdLst>
            <a:ahLst/>
            <a:cxnLst>
              <a:cxn ang="0">
                <a:pos x="connsiteX0" y="connsiteY0"/>
              </a:cxn>
              <a:cxn ang="0">
                <a:pos x="connsiteX1" y="connsiteY1"/>
              </a:cxn>
              <a:cxn ang="0">
                <a:pos x="connsiteX2" y="connsiteY2"/>
              </a:cxn>
              <a:cxn ang="0">
                <a:pos x="connsiteX3" y="connsiteY3"/>
              </a:cxn>
            </a:cxnLst>
            <a:rect l="l" t="t" r="r" b="b"/>
            <a:pathLst>
              <a:path w="5919758" h="5825419">
                <a:moveTo>
                  <a:pt x="5919758" y="0"/>
                </a:moveTo>
                <a:lnTo>
                  <a:pt x="5919758" y="5825419"/>
                </a:lnTo>
                <a:lnTo>
                  <a:pt x="1120273" y="5825419"/>
                </a:lnTo>
                <a:lnTo>
                  <a:pt x="0" y="1588036"/>
                </a:lnTo>
                <a:close/>
              </a:path>
            </a:pathLst>
          </a:custGeom>
        </p:spPr>
      </p:pic>
      <p:sp>
        <p:nvSpPr>
          <p:cNvPr id="7" name="Title 6">
            <a:extLst>
              <a:ext uri="{FF2B5EF4-FFF2-40B4-BE49-F238E27FC236}">
                <a16:creationId xmlns:a16="http://schemas.microsoft.com/office/drawing/2014/main" id="{BC9EE5B3-1C82-7F21-6A6B-428C69E2375F}"/>
              </a:ext>
            </a:extLst>
          </p:cNvPr>
          <p:cNvSpPr txBox="1">
            <a:spLocks/>
          </p:cNvSpPr>
          <p:nvPr/>
        </p:nvSpPr>
        <p:spPr>
          <a:xfrm>
            <a:off x="1206658" y="5248275"/>
            <a:ext cx="5117179" cy="762000"/>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defRPr/>
            </a:pPr>
            <a:r>
              <a:rPr lang="en-US" sz="2400" i="1">
                <a:solidFill>
                  <a:schemeClr val="bg1"/>
                </a:solidFill>
              </a:rPr>
              <a:t>Department of</a:t>
            </a:r>
            <a:br>
              <a:rPr lang="en-US" sz="2400">
                <a:solidFill>
                  <a:schemeClr val="bg1"/>
                </a:solidFill>
              </a:rPr>
            </a:br>
            <a:r>
              <a:rPr lang="en-US" sz="2400">
                <a:solidFill>
                  <a:schemeClr val="bg1"/>
                </a:solidFill>
              </a:rPr>
              <a:t>Computer Science &amp; Engineering</a:t>
            </a:r>
            <a:endParaRPr lang="en-IN" sz="2400" dirty="0">
              <a:solidFill>
                <a:schemeClr val="bg1"/>
              </a:solidFill>
            </a:endParaRPr>
          </a:p>
        </p:txBody>
      </p:sp>
      <p:sp>
        <p:nvSpPr>
          <p:cNvPr id="8" name="Rectangle 7">
            <a:extLst>
              <a:ext uri="{FF2B5EF4-FFF2-40B4-BE49-F238E27FC236}">
                <a16:creationId xmlns:a16="http://schemas.microsoft.com/office/drawing/2014/main" id="{84EEE3B6-83CD-3242-22A8-37E305BAE095}"/>
              </a:ext>
            </a:extLst>
          </p:cNvPr>
          <p:cNvSpPr/>
          <p:nvPr/>
        </p:nvSpPr>
        <p:spPr>
          <a:xfrm>
            <a:off x="1298744" y="5056188"/>
            <a:ext cx="901817" cy="63500"/>
          </a:xfrm>
          <a:prstGeom prst="rect">
            <a:avLst/>
          </a:prstGeom>
          <a:solidFill>
            <a:srgbClr val="00A1D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IN"/>
          </a:p>
        </p:txBody>
      </p:sp>
      <p:pic>
        <p:nvPicPr>
          <p:cNvPr id="9" name="Picture 1">
            <a:extLst>
              <a:ext uri="{FF2B5EF4-FFF2-40B4-BE49-F238E27FC236}">
                <a16:creationId xmlns:a16="http://schemas.microsoft.com/office/drawing/2014/main" id="{1C6BE8F0-A890-EA6F-8F0C-35A866DEE9A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908168" y="211138"/>
            <a:ext cx="2465709" cy="1585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Title 8">
            <a:extLst>
              <a:ext uri="{FF2B5EF4-FFF2-40B4-BE49-F238E27FC236}">
                <a16:creationId xmlns:a16="http://schemas.microsoft.com/office/drawing/2014/main" id="{0F74A0BB-CBDC-A005-268E-52DF288C8B5A}"/>
              </a:ext>
            </a:extLst>
          </p:cNvPr>
          <p:cNvSpPr txBox="1">
            <a:spLocks/>
          </p:cNvSpPr>
          <p:nvPr/>
        </p:nvSpPr>
        <p:spPr>
          <a:xfrm>
            <a:off x="2" y="2601915"/>
            <a:ext cx="6617108" cy="2201728"/>
          </a:xfrm>
          <a:prstGeom prst="rect">
            <a:avLst/>
          </a:prstGeom>
        </p:spPr>
        <p:txBody>
          <a:bodyPr anchor="b"/>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defRPr/>
            </a:pPr>
            <a:r>
              <a:rPr lang="en-US" sz="2400" b="1" dirty="0">
                <a:solidFill>
                  <a:srgbClr val="00A1DA"/>
                </a:solidFill>
                <a:latin typeface="+mn-lt"/>
              </a:rPr>
              <a:t>Project Presentation</a:t>
            </a:r>
          </a:p>
          <a:p>
            <a:pPr>
              <a:defRPr/>
            </a:pPr>
            <a:r>
              <a:rPr lang="en-US" sz="1600" b="1" dirty="0">
                <a:solidFill>
                  <a:srgbClr val="00A1DA"/>
                </a:solidFill>
                <a:latin typeface="+mn-lt"/>
              </a:rPr>
              <a:t>On</a:t>
            </a:r>
          </a:p>
          <a:p>
            <a:pPr>
              <a:defRPr/>
            </a:pPr>
            <a:r>
              <a:rPr lang="en-IN" sz="2400" b="1" dirty="0">
                <a:solidFill>
                  <a:srgbClr val="FF0000"/>
                </a:solidFill>
              </a:rPr>
              <a:t>Assistive System for Blind People</a:t>
            </a:r>
            <a:endParaRPr lang="en-US" sz="2400" b="1" dirty="0">
              <a:solidFill>
                <a:srgbClr val="FF0000"/>
              </a:solidFill>
            </a:endParaRPr>
          </a:p>
          <a:p>
            <a:pPr>
              <a:defRPr/>
            </a:pPr>
            <a:r>
              <a:rPr lang="en-US" sz="1600" dirty="0">
                <a:solidFill>
                  <a:srgbClr val="00A1DA"/>
                </a:solidFill>
                <a:latin typeface="+mn-lt"/>
              </a:rPr>
              <a:t>By</a:t>
            </a:r>
          </a:p>
          <a:p>
            <a:pPr>
              <a:defRPr/>
            </a:pPr>
            <a:r>
              <a:rPr lang="en-US" sz="2000" b="1" dirty="0">
                <a:solidFill>
                  <a:schemeClr val="accent6">
                    <a:lumMod val="20000"/>
                    <a:lumOff val="80000"/>
                  </a:schemeClr>
                </a:solidFill>
              </a:rPr>
              <a:t>Koyal </a:t>
            </a:r>
            <a:r>
              <a:rPr lang="en-US" sz="2000" b="1" dirty="0" err="1">
                <a:solidFill>
                  <a:schemeClr val="accent6">
                    <a:lumMod val="20000"/>
                    <a:lumOff val="80000"/>
                  </a:schemeClr>
                </a:solidFill>
              </a:rPr>
              <a:t>Kaveramma</a:t>
            </a:r>
            <a:r>
              <a:rPr lang="en-US" sz="2000" b="1" dirty="0">
                <a:solidFill>
                  <a:schemeClr val="accent6">
                    <a:lumMod val="20000"/>
                    <a:lumOff val="80000"/>
                  </a:schemeClr>
                </a:solidFill>
              </a:rPr>
              <a:t> K G (1CD23CS075)</a:t>
            </a:r>
          </a:p>
          <a:p>
            <a:pPr>
              <a:defRPr/>
            </a:pPr>
            <a:r>
              <a:rPr lang="en-US" sz="2000" b="1" dirty="0" err="1">
                <a:solidFill>
                  <a:schemeClr val="accent6">
                    <a:lumMod val="20000"/>
                    <a:lumOff val="80000"/>
                  </a:schemeClr>
                </a:solidFill>
              </a:rPr>
              <a:t>Nagapriya</a:t>
            </a:r>
            <a:r>
              <a:rPr lang="en-US" sz="2000" b="1" dirty="0">
                <a:solidFill>
                  <a:schemeClr val="accent6">
                    <a:lumMod val="20000"/>
                    <a:lumOff val="80000"/>
                  </a:schemeClr>
                </a:solidFill>
              </a:rPr>
              <a:t> (1CD23CS100)</a:t>
            </a:r>
            <a:endParaRPr lang="en-US" sz="2000" b="1" dirty="0">
              <a:solidFill>
                <a:schemeClr val="accent6">
                  <a:lumMod val="20000"/>
                  <a:lumOff val="80000"/>
                </a:schemeClr>
              </a:solidFill>
              <a:latin typeface="+mn-lt"/>
            </a:endParaRPr>
          </a:p>
          <a:p>
            <a:pPr>
              <a:defRPr/>
            </a:pPr>
            <a:r>
              <a:rPr lang="en-US" sz="2000" b="1" dirty="0">
                <a:solidFill>
                  <a:schemeClr val="accent6">
                    <a:lumMod val="20000"/>
                    <a:lumOff val="80000"/>
                  </a:schemeClr>
                </a:solidFill>
              </a:rPr>
              <a:t>Priyanka V (1CD23CS122)</a:t>
            </a:r>
          </a:p>
          <a:p>
            <a:pPr>
              <a:defRPr/>
            </a:pPr>
            <a:endParaRPr lang="en-US" sz="2400" b="1" i="1" dirty="0">
              <a:solidFill>
                <a:schemeClr val="accent6">
                  <a:lumMod val="20000"/>
                  <a:lumOff val="80000"/>
                </a:schemeClr>
              </a:solidFill>
              <a:latin typeface="+mn-lt"/>
            </a:endParaRPr>
          </a:p>
          <a:p>
            <a:pPr>
              <a:defRPr/>
            </a:pPr>
            <a:r>
              <a:rPr lang="en-US" sz="1600" b="1" dirty="0">
                <a:solidFill>
                  <a:srgbClr val="00A1DA"/>
                </a:solidFill>
                <a:latin typeface="+mn-lt"/>
              </a:rPr>
              <a:t>Under the Guidance of </a:t>
            </a:r>
          </a:p>
          <a:p>
            <a:pPr>
              <a:defRPr/>
            </a:pPr>
            <a:r>
              <a:rPr lang="en-US" sz="2000" b="1" dirty="0">
                <a:solidFill>
                  <a:schemeClr val="accent4">
                    <a:lumMod val="60000"/>
                    <a:lumOff val="40000"/>
                  </a:schemeClr>
                </a:solidFill>
                <a:latin typeface="+mn-lt"/>
              </a:rPr>
              <a:t>Prof.  </a:t>
            </a:r>
            <a:r>
              <a:rPr lang="en-US" sz="2000" b="1" dirty="0" err="1">
                <a:solidFill>
                  <a:schemeClr val="accent4">
                    <a:lumMod val="60000"/>
                    <a:lumOff val="40000"/>
                  </a:schemeClr>
                </a:solidFill>
                <a:latin typeface="+mn-lt"/>
              </a:rPr>
              <a:t>Swathy</a:t>
            </a:r>
            <a:r>
              <a:rPr lang="en-US" sz="2000" b="1" dirty="0">
                <a:solidFill>
                  <a:schemeClr val="accent4">
                    <a:lumMod val="60000"/>
                    <a:lumOff val="40000"/>
                  </a:schemeClr>
                </a:solidFill>
                <a:latin typeface="+mn-lt"/>
              </a:rPr>
              <a:t> J</a:t>
            </a:r>
            <a:endParaRPr lang="en-US" sz="1600" b="1" dirty="0">
              <a:solidFill>
                <a:srgbClr val="00A1DA"/>
              </a:solidFill>
              <a:latin typeface="+mn-lt"/>
            </a:endParaRPr>
          </a:p>
        </p:txBody>
      </p:sp>
    </p:spTree>
    <p:extLst>
      <p:ext uri="{BB962C8B-B14F-4D97-AF65-F5344CB8AC3E}">
        <p14:creationId xmlns:p14="http://schemas.microsoft.com/office/powerpoint/2010/main" val="38887145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88733" y="409345"/>
            <a:ext cx="8847667" cy="1044524"/>
          </a:xfrm>
        </p:spPr>
        <p:txBody>
          <a:bodyPr>
            <a:normAutofit/>
          </a:bodyPr>
          <a:lstStyle/>
          <a:p>
            <a:r>
              <a:rPr lang="en-US" sz="4000" b="1" dirty="0">
                <a:latin typeface="Times New Roman" pitchFamily="18" charset="0"/>
                <a:cs typeface="Times New Roman" pitchFamily="18" charset="0"/>
              </a:rPr>
              <a:t>Contents</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434839"/>
          </a:xfrm>
        </p:spPr>
        <p:txBody>
          <a:bodyPr>
            <a:normAutofit fontScale="92500" lnSpcReduction="10000"/>
          </a:bodyPr>
          <a:lstStyle/>
          <a:p>
            <a:pPr marL="0" indent="0">
              <a:buNone/>
            </a:pPr>
            <a:r>
              <a:rPr lang="en-US" sz="2400" dirty="0">
                <a:latin typeface="Times New Roman" pitchFamily="18" charset="0"/>
                <a:cs typeface="Times New Roman" pitchFamily="18" charset="0"/>
              </a:rPr>
              <a:t>Introduction</a:t>
            </a:r>
          </a:p>
          <a:p>
            <a:pPr marL="0" indent="0">
              <a:buNone/>
            </a:pPr>
            <a:r>
              <a:rPr lang="en-US" sz="2400" dirty="0">
                <a:latin typeface="Times New Roman" pitchFamily="18" charset="0"/>
                <a:cs typeface="Times New Roman" pitchFamily="18" charset="0"/>
              </a:rPr>
              <a:t>Objectives</a:t>
            </a:r>
          </a:p>
          <a:p>
            <a:pPr marL="0" indent="0">
              <a:buNone/>
            </a:pPr>
            <a:r>
              <a:rPr lang="en-US" sz="2400" dirty="0">
                <a:latin typeface="Times New Roman" pitchFamily="18" charset="0"/>
                <a:cs typeface="Times New Roman" pitchFamily="18" charset="0"/>
              </a:rPr>
              <a:t>Literature Survey</a:t>
            </a:r>
          </a:p>
          <a:p>
            <a:pPr marL="0" indent="0">
              <a:buNone/>
            </a:pPr>
            <a:r>
              <a:rPr lang="en-US" sz="2400" dirty="0">
                <a:latin typeface="Times New Roman" pitchFamily="18" charset="0"/>
                <a:cs typeface="Times New Roman" pitchFamily="18" charset="0"/>
              </a:rPr>
              <a:t>Proposed Method</a:t>
            </a:r>
          </a:p>
          <a:p>
            <a:pPr marL="0" indent="0">
              <a:buNone/>
            </a:pPr>
            <a:r>
              <a:rPr lang="en-US" sz="2400" dirty="0">
                <a:latin typeface="Times New Roman" pitchFamily="18" charset="0"/>
                <a:cs typeface="Times New Roman" pitchFamily="18" charset="0"/>
              </a:rPr>
              <a:t>Architecture</a:t>
            </a:r>
          </a:p>
          <a:p>
            <a:pPr marL="0" indent="0">
              <a:buNone/>
            </a:pPr>
            <a:r>
              <a:rPr lang="en-US" sz="2400" dirty="0">
                <a:latin typeface="Times New Roman" pitchFamily="18" charset="0"/>
                <a:cs typeface="Times New Roman" pitchFamily="18" charset="0"/>
              </a:rPr>
              <a:t>Hardware/Software Requirements</a:t>
            </a:r>
          </a:p>
          <a:p>
            <a:pPr marL="0" indent="0">
              <a:buNone/>
            </a:pPr>
            <a:r>
              <a:rPr lang="en-US" sz="2400" dirty="0">
                <a:latin typeface="Times New Roman" pitchFamily="18" charset="0"/>
                <a:cs typeface="Times New Roman" pitchFamily="18" charset="0"/>
              </a:rPr>
              <a:t>Algorithms/</a:t>
            </a:r>
            <a:r>
              <a:rPr lang="en-US" sz="2400" dirty="0" err="1">
                <a:latin typeface="Times New Roman" pitchFamily="18" charset="0"/>
                <a:cs typeface="Times New Roman" pitchFamily="18" charset="0"/>
              </a:rPr>
              <a:t>Methdology</a:t>
            </a:r>
            <a:endParaRPr lang="en-US" sz="2400" dirty="0">
              <a:latin typeface="Times New Roman" pitchFamily="18" charset="0"/>
              <a:cs typeface="Times New Roman" pitchFamily="18" charset="0"/>
            </a:endParaRPr>
          </a:p>
          <a:p>
            <a:pPr marL="0" indent="0">
              <a:buNone/>
            </a:pPr>
            <a:r>
              <a:rPr lang="en-US" sz="2400" dirty="0">
                <a:latin typeface="Times New Roman" pitchFamily="18" charset="0"/>
                <a:cs typeface="Times New Roman" pitchFamily="18" charset="0"/>
              </a:rPr>
              <a:t>Implementation Modules Identified</a:t>
            </a:r>
          </a:p>
          <a:p>
            <a:pPr marL="0" indent="0">
              <a:buNone/>
            </a:pPr>
            <a:r>
              <a:rPr lang="en-US" sz="2400" dirty="0">
                <a:latin typeface="Times New Roman" pitchFamily="18" charset="0"/>
                <a:cs typeface="Times New Roman" pitchFamily="18" charset="0"/>
              </a:rPr>
              <a:t>Works completed</a:t>
            </a:r>
          </a:p>
          <a:p>
            <a:pPr marL="0" indent="0">
              <a:buNone/>
            </a:pPr>
            <a:r>
              <a:rPr lang="en-US" sz="2400" dirty="0">
                <a:latin typeface="Times New Roman" pitchFamily="18" charset="0"/>
                <a:cs typeface="Times New Roman" pitchFamily="18" charset="0"/>
              </a:rPr>
              <a:t>Works to be completed.</a:t>
            </a:r>
          </a:p>
          <a:p>
            <a:pPr marL="0" indent="0">
              <a:buNone/>
            </a:pPr>
            <a:r>
              <a:rPr lang="en-US" sz="2400" dirty="0">
                <a:latin typeface="Times New Roman" pitchFamily="18" charset="0"/>
                <a:cs typeface="Times New Roman" pitchFamily="18" charset="0"/>
              </a:rPr>
              <a:t>References</a:t>
            </a:r>
          </a:p>
        </p:txBody>
      </p:sp>
    </p:spTree>
    <p:extLst>
      <p:ext uri="{BB962C8B-B14F-4D97-AF65-F5344CB8AC3E}">
        <p14:creationId xmlns:p14="http://schemas.microsoft.com/office/powerpoint/2010/main" val="31406608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69341" y="408487"/>
            <a:ext cx="7067271" cy="1044524"/>
          </a:xfrm>
        </p:spPr>
        <p:txBody>
          <a:bodyPr>
            <a:normAutofit/>
          </a:bodyPr>
          <a:lstStyle/>
          <a:p>
            <a:r>
              <a:rPr lang="en-US" sz="4000" b="1" dirty="0">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358386" y="1776689"/>
            <a:ext cx="10500360" cy="4434839"/>
          </a:xfrm>
        </p:spPr>
        <p:txBody>
          <a:bodyPr>
            <a:normAutofit fontScale="85000" lnSpcReduction="20000"/>
          </a:bodyPr>
          <a:lstStyle/>
          <a:p>
            <a:pPr marL="0" indent="0">
              <a:buNone/>
            </a:pPr>
            <a:r>
              <a:rPr lang="en-IN" sz="2400" b="1" dirty="0"/>
              <a:t>Visual Impairment and Navigation Challenges</a:t>
            </a:r>
          </a:p>
          <a:p>
            <a:pPr marL="0" indent="0">
              <a:lnSpc>
                <a:spcPct val="120000"/>
              </a:lnSpc>
              <a:buNone/>
            </a:pPr>
            <a:r>
              <a:rPr lang="en-IN" sz="2300" dirty="0"/>
              <a:t>Visual impairment is a serious global issue that affects millions of people, limiting their ability to move freely and perform daily activities independently. Navigation is one of the biggest challenges, especially in crowded, unfamiliar, or dynamic environments.</a:t>
            </a:r>
          </a:p>
          <a:p>
            <a:pPr marL="0" indent="0">
              <a:buNone/>
            </a:pPr>
            <a:r>
              <a:rPr lang="en-IN" sz="2400" b="1" dirty="0"/>
              <a:t>Traditional tools such as white canes:</a:t>
            </a:r>
            <a:endParaRPr lang="en-IN" sz="2400" dirty="0"/>
          </a:p>
          <a:p>
            <a:r>
              <a:rPr lang="en-IN" sz="2100" dirty="0"/>
              <a:t>Detect only nearby obstacles </a:t>
            </a:r>
          </a:p>
          <a:p>
            <a:r>
              <a:rPr lang="en-IN" sz="2100" dirty="0"/>
              <a:t>Cannot identify surrounding objects </a:t>
            </a:r>
          </a:p>
          <a:p>
            <a:r>
              <a:rPr lang="en-IN" sz="2100" dirty="0"/>
              <a:t>Provide no navigation support </a:t>
            </a:r>
          </a:p>
          <a:p>
            <a:r>
              <a:rPr lang="en-IN" sz="2100" dirty="0"/>
              <a:t>Offer limited environmental awareness </a:t>
            </a:r>
          </a:p>
          <a:p>
            <a:pPr marL="0" indent="0">
              <a:buNone/>
            </a:pPr>
            <a:r>
              <a:rPr lang="en-IN" sz="2400" b="1" dirty="0"/>
              <a:t>Need for Improvement</a:t>
            </a:r>
            <a:endParaRPr lang="en-IN" sz="2400" dirty="0"/>
          </a:p>
          <a:p>
            <a:r>
              <a:rPr lang="en-IN" sz="2400" dirty="0"/>
              <a:t>Safer mobility solutions </a:t>
            </a:r>
          </a:p>
          <a:p>
            <a:r>
              <a:rPr lang="en-IN" sz="2400" dirty="0"/>
              <a:t>Greater independence for users </a:t>
            </a:r>
          </a:p>
          <a:p>
            <a:r>
              <a:rPr lang="en-IN" sz="2400" dirty="0"/>
              <a:t>Real-time environmental understanding </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1984296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49678" y="398654"/>
            <a:ext cx="7067271" cy="1044524"/>
          </a:xfrm>
        </p:spPr>
        <p:txBody>
          <a:bodyPr>
            <a:normAutofit/>
          </a:bodyPr>
          <a:lstStyle/>
          <a:p>
            <a:r>
              <a:rPr lang="en-US" sz="4000" b="1" dirty="0">
                <a:latin typeface="Times New Roman" pitchFamily="18" charset="0"/>
                <a:cs typeface="Times New Roman" pitchFamily="18" charset="0"/>
              </a:rPr>
              <a:t>Introduction(</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03773" y="1710814"/>
            <a:ext cx="11784453" cy="4540044"/>
          </a:xfrm>
        </p:spPr>
        <p:txBody>
          <a:bodyPr>
            <a:normAutofit fontScale="70000" lnSpcReduction="20000"/>
          </a:bodyPr>
          <a:lstStyle/>
          <a:p>
            <a:pPr marL="0" indent="0">
              <a:buNone/>
            </a:pPr>
            <a:r>
              <a:rPr lang="en-IN" sz="2600" b="1" dirty="0"/>
              <a:t>Smart Assistive Navigation System</a:t>
            </a:r>
          </a:p>
          <a:p>
            <a:pPr marL="0" indent="0">
              <a:lnSpc>
                <a:spcPct val="120000"/>
              </a:lnSpc>
              <a:buNone/>
            </a:pPr>
            <a:r>
              <a:rPr lang="en-IN" sz="2400" dirty="0"/>
              <a:t>Recent </a:t>
            </a:r>
            <a:r>
              <a:rPr lang="en-US" sz="2400" dirty="0"/>
              <a:t>technological advancements have enabled the development of</a:t>
            </a:r>
            <a:r>
              <a:rPr lang="en-IN" sz="2400" dirty="0"/>
              <a:t> intelligent assistive systems that enhance mobility and safety.</a:t>
            </a:r>
          </a:p>
          <a:p>
            <a:pPr marL="0" indent="0">
              <a:buNone/>
            </a:pPr>
            <a:r>
              <a:rPr lang="en-IN" sz="2600" b="1" dirty="0"/>
              <a:t>Key enabling technologies:</a:t>
            </a:r>
            <a:endParaRPr lang="en-IN" sz="2600" dirty="0"/>
          </a:p>
          <a:p>
            <a:pPr>
              <a:lnSpc>
                <a:spcPct val="120000"/>
              </a:lnSpc>
            </a:pPr>
            <a:r>
              <a:rPr lang="en-IN" sz="2400" dirty="0"/>
              <a:t>Artificial Intelligence (AI) </a:t>
            </a:r>
          </a:p>
          <a:p>
            <a:pPr>
              <a:lnSpc>
                <a:spcPct val="120000"/>
              </a:lnSpc>
            </a:pPr>
            <a:r>
              <a:rPr lang="en-IN" sz="2400" dirty="0"/>
              <a:t>Internet of Things (IoT) </a:t>
            </a:r>
          </a:p>
          <a:p>
            <a:pPr>
              <a:lnSpc>
                <a:spcPct val="120000"/>
              </a:lnSpc>
            </a:pPr>
            <a:r>
              <a:rPr lang="en-IN" sz="2400" dirty="0"/>
              <a:t>Computer Vision </a:t>
            </a:r>
          </a:p>
          <a:p>
            <a:pPr>
              <a:lnSpc>
                <a:spcPct val="120000"/>
              </a:lnSpc>
            </a:pPr>
            <a:r>
              <a:rPr lang="en-IN" sz="2400" dirty="0"/>
              <a:t>Machine Learning </a:t>
            </a:r>
          </a:p>
          <a:p>
            <a:pPr marL="0" indent="0">
              <a:lnSpc>
                <a:spcPct val="120000"/>
              </a:lnSpc>
              <a:buNone/>
            </a:pPr>
            <a:r>
              <a:rPr lang="en-IN" sz="2400" dirty="0"/>
              <a:t>The proposed system aims to overcome the limitations of traditional tools by combining these technologies into a single smart assistive solution.</a:t>
            </a:r>
          </a:p>
          <a:p>
            <a:pPr marL="0" indent="0">
              <a:buNone/>
            </a:pPr>
            <a:r>
              <a:rPr lang="en-IN" sz="2600" b="1" dirty="0"/>
              <a:t>Objectives:</a:t>
            </a:r>
            <a:endParaRPr lang="en-IN" sz="2600" dirty="0"/>
          </a:p>
          <a:p>
            <a:r>
              <a:rPr lang="en-IN" sz="2400" dirty="0"/>
              <a:t>Improve user safety </a:t>
            </a:r>
          </a:p>
          <a:p>
            <a:r>
              <a:rPr lang="en-IN" sz="2400" dirty="0"/>
              <a:t>Assist with navigation </a:t>
            </a:r>
          </a:p>
          <a:p>
            <a:r>
              <a:rPr lang="en-IN" sz="2400" dirty="0"/>
              <a:t>Provide real-time information about surroundings</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04274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69343" y="456048"/>
            <a:ext cx="7067271" cy="1044524"/>
          </a:xfrm>
        </p:spPr>
        <p:txBody>
          <a:bodyPr>
            <a:normAutofit/>
          </a:bodyPr>
          <a:lstStyle/>
          <a:p>
            <a:r>
              <a:rPr lang="en-US" sz="4000" b="1" dirty="0">
                <a:latin typeface="Times New Roman" pitchFamily="18" charset="0"/>
                <a:cs typeface="Times New Roman" pitchFamily="18" charset="0"/>
              </a:rPr>
              <a:t>Introduction(</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1518982" cy="4142330"/>
          </a:xfrm>
        </p:spPr>
        <p:txBody>
          <a:bodyPr>
            <a:noAutofit/>
          </a:bodyPr>
          <a:lstStyle/>
          <a:p>
            <a:pPr marL="0" indent="0">
              <a:buNone/>
            </a:pPr>
            <a:r>
              <a:rPr lang="en-IN" sz="1800" b="1" dirty="0"/>
              <a:t>Main Components</a:t>
            </a:r>
            <a:endParaRPr lang="en-IN" sz="1800" dirty="0"/>
          </a:p>
          <a:p>
            <a:r>
              <a:rPr lang="en-IN" sz="1800" dirty="0"/>
              <a:t>Ultrasonic Sensors for obstacle detection </a:t>
            </a:r>
          </a:p>
          <a:p>
            <a:r>
              <a:rPr lang="en-IN" sz="1800" dirty="0"/>
              <a:t>Camera Module for object recognition </a:t>
            </a:r>
          </a:p>
          <a:p>
            <a:r>
              <a:rPr lang="en-IN" sz="1800" dirty="0"/>
              <a:t>Microcontroller (Arduino/Raspberry Pi) for processing </a:t>
            </a:r>
          </a:p>
          <a:p>
            <a:r>
              <a:rPr lang="en-IN" sz="1800" dirty="0"/>
              <a:t>GPS Module for real-time location tracking </a:t>
            </a:r>
          </a:p>
          <a:p>
            <a:r>
              <a:rPr lang="en-IN" sz="1800" dirty="0"/>
              <a:t>Audio Output System for voice feedback (TTS) </a:t>
            </a:r>
          </a:p>
          <a:p>
            <a:pPr marL="0" indent="0">
              <a:buNone/>
            </a:pPr>
            <a:r>
              <a:rPr lang="en-IN" sz="1800" b="1" dirty="0"/>
              <a:t>System Capabilities</a:t>
            </a:r>
            <a:endParaRPr lang="en-IN" sz="1800" dirty="0"/>
          </a:p>
          <a:p>
            <a:r>
              <a:rPr lang="en-IN" sz="1800" dirty="0"/>
              <a:t>Detect obstacles in real time </a:t>
            </a:r>
          </a:p>
          <a:p>
            <a:r>
              <a:rPr lang="en-IN" sz="1800" dirty="0"/>
              <a:t>Recognize objects in the environment </a:t>
            </a:r>
          </a:p>
          <a:p>
            <a:r>
              <a:rPr lang="en-IN" sz="1800" dirty="0"/>
              <a:t>Provide voice-based alerts and navigation instructions </a:t>
            </a:r>
          </a:p>
          <a:p>
            <a:r>
              <a:rPr lang="en-IN" sz="1800" dirty="0"/>
              <a:t>Assist users in making safer movement decisions </a:t>
            </a:r>
          </a:p>
          <a:p>
            <a:pPr marL="0" indent="0">
              <a:buNone/>
            </a:pPr>
            <a:endParaRPr lang="en-IN" sz="1800" dirty="0"/>
          </a:p>
        </p:txBody>
      </p:sp>
    </p:spTree>
    <p:extLst>
      <p:ext uri="{BB962C8B-B14F-4D97-AF65-F5344CB8AC3E}">
        <p14:creationId xmlns:p14="http://schemas.microsoft.com/office/powerpoint/2010/main" val="2079016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F05558-4833-84BD-F185-8E8D9867F43B}"/>
              </a:ext>
            </a:extLst>
          </p:cNvPr>
          <p:cNvSpPr>
            <a:spLocks noGrp="1"/>
          </p:cNvSpPr>
          <p:nvPr>
            <p:ph sz="half" idx="1"/>
          </p:nvPr>
        </p:nvSpPr>
        <p:spPr>
          <a:xfrm>
            <a:off x="916857" y="2041934"/>
            <a:ext cx="11009671" cy="4351338"/>
          </a:xfrm>
        </p:spPr>
        <p:txBody>
          <a:bodyPr>
            <a:normAutofit/>
          </a:bodyPr>
          <a:lstStyle/>
          <a:p>
            <a:pPr marL="0" indent="0">
              <a:buNone/>
            </a:pPr>
            <a:r>
              <a:rPr lang="en-IN" sz="2000" b="1" dirty="0"/>
              <a:t>Technologies Used</a:t>
            </a:r>
            <a:endParaRPr lang="en-IN" sz="2000" dirty="0"/>
          </a:p>
          <a:p>
            <a:r>
              <a:rPr lang="en-IN" sz="1800" dirty="0"/>
              <a:t>Computer Vision for scene understanding </a:t>
            </a:r>
          </a:p>
          <a:p>
            <a:r>
              <a:rPr lang="en-IN" sz="1800" dirty="0"/>
              <a:t>Machine Learning models (e.g., YOLOv8) for object detection </a:t>
            </a:r>
          </a:p>
          <a:p>
            <a:r>
              <a:rPr lang="en-IN" sz="1800" dirty="0"/>
              <a:t>Sensor Fusion to improve accuracy and reliability</a:t>
            </a:r>
          </a:p>
          <a:p>
            <a:pPr marL="0" indent="0">
              <a:buNone/>
            </a:pPr>
            <a:endParaRPr lang="en-IN" sz="1800" dirty="0"/>
          </a:p>
        </p:txBody>
      </p:sp>
      <p:sp>
        <p:nvSpPr>
          <p:cNvPr id="5" name="Title 3">
            <a:extLst>
              <a:ext uri="{FF2B5EF4-FFF2-40B4-BE49-F238E27FC236}">
                <a16:creationId xmlns:a16="http://schemas.microsoft.com/office/drawing/2014/main" id="{64CF0984-F211-0E90-77FE-370CFE7B04FD}"/>
              </a:ext>
            </a:extLst>
          </p:cNvPr>
          <p:cNvSpPr>
            <a:spLocks noGrp="1"/>
          </p:cNvSpPr>
          <p:nvPr>
            <p:ph type="title"/>
          </p:nvPr>
        </p:nvSpPr>
        <p:spPr>
          <a:xfrm>
            <a:off x="2981631" y="286467"/>
            <a:ext cx="10515600" cy="1325563"/>
          </a:xfrm>
        </p:spPr>
        <p:txBody>
          <a:bodyPr>
            <a:normAutofit/>
          </a:bodyPr>
          <a:lstStyle/>
          <a:p>
            <a:r>
              <a:rPr lang="en-US" sz="4000" b="1" dirty="0">
                <a:latin typeface="Times New Roman" pitchFamily="18" charset="0"/>
                <a:cs typeface="Times New Roman" pitchFamily="18" charset="0"/>
              </a:rPr>
              <a:t>Introduction(</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Tree>
    <p:extLst>
      <p:ext uri="{BB962C8B-B14F-4D97-AF65-F5344CB8AC3E}">
        <p14:creationId xmlns:p14="http://schemas.microsoft.com/office/powerpoint/2010/main" val="34453570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018503" y="457648"/>
            <a:ext cx="7067271" cy="1044524"/>
          </a:xfrm>
        </p:spPr>
        <p:txBody>
          <a:bodyPr>
            <a:normAutofit/>
          </a:bodyPr>
          <a:lstStyle/>
          <a:p>
            <a:r>
              <a:rPr lang="en-US" sz="4000" b="1" dirty="0">
                <a:latin typeface="Times New Roman" pitchFamily="18" charset="0"/>
                <a:cs typeface="Times New Roman" pitchFamily="18" charset="0"/>
              </a:rPr>
              <a:t>Objectives</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59" y="1737360"/>
            <a:ext cx="11263344" cy="4434839"/>
          </a:xfrm>
        </p:spPr>
        <p:txBody>
          <a:bodyPr>
            <a:normAutofit fontScale="85000" lnSpcReduction="20000"/>
          </a:bodyPr>
          <a:lstStyle/>
          <a:p>
            <a:pPr marL="0" indent="0">
              <a:buNone/>
            </a:pPr>
            <a:r>
              <a:rPr lang="en-IN" sz="2400" b="1" dirty="0"/>
              <a:t>Main Objective</a:t>
            </a:r>
          </a:p>
          <a:p>
            <a:pPr marL="0" indent="0">
              <a:lnSpc>
                <a:spcPct val="120000"/>
              </a:lnSpc>
              <a:buNone/>
            </a:pPr>
            <a:r>
              <a:rPr lang="en-IN" sz="2400" dirty="0"/>
              <a:t>The main objective of this project is to design and develop an </a:t>
            </a:r>
            <a:r>
              <a:rPr lang="en-IN" sz="2400" b="1" dirty="0"/>
              <a:t>intelligent assistive system</a:t>
            </a:r>
            <a:r>
              <a:rPr lang="en-IN" sz="2400" dirty="0"/>
              <a:t> using </a:t>
            </a:r>
            <a:r>
              <a:rPr lang="en-IN" sz="2400" b="1" dirty="0"/>
              <a:t>Deep Learning</a:t>
            </a:r>
            <a:r>
              <a:rPr lang="en-IN" sz="2400" dirty="0"/>
              <a:t> and </a:t>
            </a:r>
            <a:r>
              <a:rPr lang="en-IN" sz="2400" b="1" dirty="0"/>
              <a:t>Computer Vision</a:t>
            </a:r>
            <a:r>
              <a:rPr lang="en-IN" sz="2400" dirty="0"/>
              <a:t> to enhance the mobility, safety, and independence of visually impaired individuals.</a:t>
            </a:r>
          </a:p>
          <a:p>
            <a:pPr marL="0" indent="0">
              <a:buNone/>
            </a:pPr>
            <a:r>
              <a:rPr lang="en-IN" sz="2400" b="1" dirty="0"/>
              <a:t>Key Goals</a:t>
            </a:r>
          </a:p>
          <a:p>
            <a:r>
              <a:rPr lang="en-IN" sz="2400" dirty="0"/>
              <a:t>Provide real-time environmental awareness </a:t>
            </a:r>
          </a:p>
          <a:p>
            <a:r>
              <a:rPr lang="en-IN" sz="2400" dirty="0"/>
              <a:t>Improve obstacle and object detection accuracy </a:t>
            </a:r>
          </a:p>
          <a:p>
            <a:r>
              <a:rPr lang="en-IN" sz="2400" dirty="0"/>
              <a:t>Enable safer navigation in indoor and outdoor environments </a:t>
            </a:r>
          </a:p>
          <a:p>
            <a:r>
              <a:rPr lang="en-IN" sz="2400" dirty="0"/>
              <a:t>Deliver voice-based assistance for easier interaction </a:t>
            </a:r>
          </a:p>
          <a:p>
            <a:pPr marL="0" indent="0">
              <a:buNone/>
            </a:pPr>
            <a:r>
              <a:rPr lang="en-IN" sz="2400" b="1" dirty="0"/>
              <a:t>Expected Impact</a:t>
            </a:r>
          </a:p>
          <a:p>
            <a:r>
              <a:rPr lang="en-IN" sz="2400" dirty="0"/>
              <a:t>Increased user independence </a:t>
            </a:r>
          </a:p>
          <a:p>
            <a:r>
              <a:rPr lang="en-IN" sz="2400" dirty="0"/>
              <a:t>Improved accessibility through smart technology </a:t>
            </a:r>
          </a:p>
          <a:p>
            <a:r>
              <a:rPr lang="en-IN" sz="2400" dirty="0"/>
              <a:t>Enhanced quality of life for visually impaired users </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9235347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79174" y="437984"/>
            <a:ext cx="7067271" cy="1044524"/>
          </a:xfrm>
        </p:spPr>
        <p:txBody>
          <a:bodyPr>
            <a:normAutofit/>
          </a:bodyPr>
          <a:lstStyle/>
          <a:p>
            <a:r>
              <a:rPr lang="en-US" sz="4000" b="1" dirty="0">
                <a:latin typeface="Times New Roman" pitchFamily="18" charset="0"/>
                <a:cs typeface="Times New Roman" pitchFamily="18" charset="0"/>
              </a:rPr>
              <a:t>Objectives (</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434839"/>
          </a:xfrm>
        </p:spPr>
        <p:txBody>
          <a:bodyPr>
            <a:normAutofit/>
          </a:bodyPr>
          <a:lstStyle/>
          <a:p>
            <a:pPr marL="0" indent="0">
              <a:buNone/>
            </a:pPr>
            <a:r>
              <a:rPr lang="en-IN" sz="2400" b="1" dirty="0"/>
              <a:t>Specific Objectives</a:t>
            </a:r>
          </a:p>
          <a:p>
            <a:r>
              <a:rPr lang="en-IN" sz="1900" dirty="0"/>
              <a:t>Implement </a:t>
            </a:r>
            <a:r>
              <a:rPr lang="en-IN" sz="1900" b="1" dirty="0"/>
              <a:t>YOLOv8</a:t>
            </a:r>
            <a:r>
              <a:rPr lang="en-IN" sz="1900" dirty="0"/>
              <a:t> for accurate real-time object and obstacle detection, including overhead hazards. </a:t>
            </a:r>
          </a:p>
          <a:p>
            <a:r>
              <a:rPr lang="en-IN" sz="1900" dirty="0"/>
              <a:t>Integrate a </a:t>
            </a:r>
            <a:r>
              <a:rPr lang="en-IN" sz="1900" b="1" dirty="0"/>
              <a:t>depth estimation algorithm</a:t>
            </a:r>
            <a:r>
              <a:rPr lang="en-IN" sz="1900" dirty="0"/>
              <a:t> to measure obstacle distance and prioritize immediate threats. </a:t>
            </a:r>
          </a:p>
          <a:p>
            <a:r>
              <a:rPr lang="en-IN" sz="1900" dirty="0"/>
              <a:t>Incorporate an </a:t>
            </a:r>
            <a:r>
              <a:rPr lang="en-IN" sz="1900" b="1" dirty="0"/>
              <a:t>OCR engine</a:t>
            </a:r>
            <a:r>
              <a:rPr lang="en-IN" sz="1900" dirty="0"/>
              <a:t> to detect and read environmental text such as warning signs, bus numbers, and labels. </a:t>
            </a:r>
          </a:p>
          <a:p>
            <a:r>
              <a:rPr lang="en-IN" sz="1900" dirty="0"/>
              <a:t>Convert system findings into real-time audio feedback using </a:t>
            </a:r>
            <a:r>
              <a:rPr lang="en-IN" sz="1900" b="1" dirty="0"/>
              <a:t>Text-to-Speech (TTS)</a:t>
            </a:r>
            <a:r>
              <a:rPr lang="en-IN" sz="1900" dirty="0"/>
              <a:t> technology. </a:t>
            </a:r>
          </a:p>
          <a:p>
            <a:r>
              <a:rPr lang="en-IN" sz="1900" dirty="0"/>
              <a:t>Optimize deep learning models for </a:t>
            </a:r>
            <a:r>
              <a:rPr lang="en-IN" sz="1900" b="1" dirty="0"/>
              <a:t>edge deployment</a:t>
            </a:r>
            <a:r>
              <a:rPr lang="en-IN" sz="1900" dirty="0"/>
              <a:t> on smartphones and portable devices with low latency. </a:t>
            </a:r>
          </a:p>
          <a:p>
            <a:r>
              <a:rPr lang="en-IN" sz="1900" dirty="0"/>
              <a:t>Reduce dependence on continuous high-speed internet connectivity. </a:t>
            </a:r>
          </a:p>
          <a:p>
            <a:r>
              <a:rPr lang="en-IN" sz="1900" dirty="0"/>
              <a:t>Contribute to </a:t>
            </a:r>
            <a:r>
              <a:rPr lang="en-IN" sz="1900" b="1" dirty="0"/>
              <a:t>inclusive technology</a:t>
            </a:r>
            <a:r>
              <a:rPr lang="en-IN" sz="1900" dirty="0"/>
              <a:t> and improve accessibility for visually impaired individuals.</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675798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3999" y="745133"/>
            <a:ext cx="6449961" cy="477837"/>
          </a:xfrm>
        </p:spPr>
        <p:txBody>
          <a:bodyPr>
            <a:normAutofit fontScale="90000"/>
          </a:bodyPr>
          <a:lstStyle/>
          <a:p>
            <a:r>
              <a:rPr lang="en-IN" sz="3200" b="1" dirty="0">
                <a:latin typeface="Times New Roman" panose="02020603050405020304" pitchFamily="18" charset="0"/>
              </a:rPr>
              <a:t>Literature  Review</a:t>
            </a:r>
          </a:p>
        </p:txBody>
      </p:sp>
      <p:graphicFrame>
        <p:nvGraphicFramePr>
          <p:cNvPr id="6" name="Table 5"/>
          <p:cNvGraphicFramePr>
            <a:graphicFrameLocks noGrp="1"/>
          </p:cNvGraphicFramePr>
          <p:nvPr>
            <p:extLst>
              <p:ext uri="{D42A27DB-BD31-4B8C-83A1-F6EECF244321}">
                <p14:modId xmlns:p14="http://schemas.microsoft.com/office/powerpoint/2010/main" val="3203501459"/>
              </p:ext>
            </p:extLst>
          </p:nvPr>
        </p:nvGraphicFramePr>
        <p:xfrm>
          <a:off x="412955" y="1710152"/>
          <a:ext cx="11631563" cy="4402715"/>
        </p:xfrm>
        <a:graphic>
          <a:graphicData uri="http://schemas.openxmlformats.org/drawingml/2006/table">
            <a:tbl>
              <a:tblPr firstRow="1" bandRow="1">
                <a:tableStyleId>{5C22544A-7EE6-4342-B048-85BDC9FD1C3A}</a:tableStyleId>
              </a:tblPr>
              <a:tblGrid>
                <a:gridCol w="422788">
                  <a:extLst>
                    <a:ext uri="{9D8B030D-6E8A-4147-A177-3AD203B41FA5}">
                      <a16:colId xmlns:a16="http://schemas.microsoft.com/office/drawing/2014/main" val="20000"/>
                    </a:ext>
                  </a:extLst>
                </a:gridCol>
                <a:gridCol w="2411407">
                  <a:extLst>
                    <a:ext uri="{9D8B030D-6E8A-4147-A177-3AD203B41FA5}">
                      <a16:colId xmlns:a16="http://schemas.microsoft.com/office/drawing/2014/main" val="20001"/>
                    </a:ext>
                  </a:extLst>
                </a:gridCol>
                <a:gridCol w="1619541">
                  <a:extLst>
                    <a:ext uri="{9D8B030D-6E8A-4147-A177-3AD203B41FA5}">
                      <a16:colId xmlns:a16="http://schemas.microsoft.com/office/drawing/2014/main" val="20002"/>
                    </a:ext>
                  </a:extLst>
                </a:gridCol>
                <a:gridCol w="2092623">
                  <a:extLst>
                    <a:ext uri="{9D8B030D-6E8A-4147-A177-3AD203B41FA5}">
                      <a16:colId xmlns:a16="http://schemas.microsoft.com/office/drawing/2014/main" val="20003"/>
                    </a:ext>
                  </a:extLst>
                </a:gridCol>
                <a:gridCol w="2547408">
                  <a:extLst>
                    <a:ext uri="{9D8B030D-6E8A-4147-A177-3AD203B41FA5}">
                      <a16:colId xmlns:a16="http://schemas.microsoft.com/office/drawing/2014/main" val="20004"/>
                    </a:ext>
                  </a:extLst>
                </a:gridCol>
                <a:gridCol w="2537796">
                  <a:extLst>
                    <a:ext uri="{9D8B030D-6E8A-4147-A177-3AD203B41FA5}">
                      <a16:colId xmlns:a16="http://schemas.microsoft.com/office/drawing/2014/main" val="1634747109"/>
                    </a:ext>
                  </a:extLst>
                </a:gridCol>
              </a:tblGrid>
              <a:tr h="363794">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dirty="0"/>
                        <a:t>ADVANTAGES</a:t>
                      </a:r>
                    </a:p>
                    <a:p>
                      <a:pPr algn="ctr"/>
                      <a:endParaRPr lang="en-IN" sz="1200" dirty="0"/>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789103">
                <a:tc>
                  <a:txBody>
                    <a:bodyPr/>
                    <a:lstStyle/>
                    <a:p>
                      <a:pPr algn="ctr"/>
                      <a:r>
                        <a:rPr lang="en-US" sz="1200" dirty="0"/>
                        <a:t>1</a:t>
                      </a:r>
                    </a:p>
                  </a:txBody>
                  <a:tcPr/>
                </a:tc>
                <a:tc>
                  <a:txBody>
                    <a:bodyPr/>
                    <a:lstStyle/>
                    <a:p>
                      <a:pPr algn="l"/>
                      <a:r>
                        <a:rPr lang="en-US" sz="1200" dirty="0"/>
                        <a:t>Computer Vision based Assistive Technology For Blindand Visually Impaired People</a:t>
                      </a:r>
                    </a:p>
                  </a:txBody>
                  <a:tcPr/>
                </a:tc>
                <a:tc>
                  <a:txBody>
                    <a:bodyPr/>
                    <a:lstStyle/>
                    <a:p>
                      <a:pPr algn="l"/>
                      <a:r>
                        <a:rPr lang="en-US" sz="1200" dirty="0"/>
                        <a:t>live streaming visual data,</a:t>
                      </a:r>
                    </a:p>
                  </a:txBody>
                  <a:tcPr/>
                </a:tc>
                <a:tc>
                  <a:txBody>
                    <a:bodyPr/>
                    <a:lstStyle/>
                    <a:p>
                      <a:pPr algn="l"/>
                      <a:r>
                        <a:rPr lang="en-US" sz="1200" dirty="0"/>
                        <a:t>BRISK</a:t>
                      </a:r>
                    </a:p>
                  </a:txBody>
                  <a:tcPr/>
                </a:tc>
                <a:tc>
                  <a:txBody>
                    <a:bodyPr/>
                    <a:lstStyle/>
                    <a:p>
                      <a:r>
                        <a:rPr lang="en-US" sz="1200" dirty="0"/>
                        <a:t>Utilizes BRISK method on live streaming visual data for feature extraction.</a:t>
                      </a:r>
                      <a:endParaRPr lang="en-IN" sz="1200" dirty="0"/>
                    </a:p>
                  </a:txBody>
                  <a:tcPr/>
                </a:tc>
                <a:tc>
                  <a:txBody>
                    <a:bodyPr/>
                    <a:lstStyle/>
                    <a:p>
                      <a:pPr algn="l"/>
                      <a:r>
                        <a:rPr lang="en-US" sz="1200" dirty="0"/>
                        <a:t>No Deep Learning</a:t>
                      </a:r>
                    </a:p>
                  </a:txBody>
                  <a:tcPr/>
                </a:tc>
                <a:extLst>
                  <a:ext uri="{0D108BD9-81ED-4DB2-BD59-A6C34878D82A}">
                    <a16:rowId xmlns:a16="http://schemas.microsoft.com/office/drawing/2014/main" val="10001"/>
                  </a:ext>
                </a:extLst>
              </a:tr>
              <a:tr h="789103">
                <a:tc>
                  <a:txBody>
                    <a:bodyPr/>
                    <a:lstStyle/>
                    <a:p>
                      <a:pPr algn="ctr"/>
                      <a:r>
                        <a:rPr lang="en-US" sz="1200" dirty="0"/>
                        <a:t>2</a:t>
                      </a:r>
                    </a:p>
                  </a:txBody>
                  <a:tcPr/>
                </a:tc>
                <a:tc>
                  <a:txBody>
                    <a:bodyPr/>
                    <a:lstStyle/>
                    <a:p>
                      <a:pPr algn="l"/>
                      <a:r>
                        <a:rPr lang="en-US" sz="1200" dirty="0"/>
                        <a:t>Assistive Technology for the Visually Impaired Using Computer Vision</a:t>
                      </a:r>
                    </a:p>
                  </a:txBody>
                  <a:tcPr/>
                </a:tc>
                <a:tc>
                  <a:txBody>
                    <a:bodyPr/>
                    <a:lstStyle/>
                    <a:p>
                      <a:pPr algn="l"/>
                      <a:r>
                        <a:rPr lang="en-US" sz="1200" dirty="0"/>
                        <a:t>Live visual data</a:t>
                      </a:r>
                    </a:p>
                  </a:txBody>
                  <a:tcPr/>
                </a:tc>
                <a:tc>
                  <a:txBody>
                    <a:bodyPr/>
                    <a:lstStyle/>
                    <a:p>
                      <a:pPr algn="l"/>
                      <a:r>
                        <a:rPr lang="en-US" sz="1200" dirty="0"/>
                        <a:t>OpenCV,OCR</a:t>
                      </a:r>
                    </a:p>
                  </a:txBody>
                  <a:tcPr/>
                </a:tc>
                <a:tc>
                  <a:txBody>
                    <a:bodyPr/>
                    <a:lstStyle/>
                    <a:p>
                      <a:r>
                        <a:rPr lang="en-US" sz="1200" dirty="0"/>
                        <a:t>Implements OpenCV and OCR to process live visual data.</a:t>
                      </a:r>
                      <a:endParaRPr lang="en-IN" sz="1200" dirty="0"/>
                    </a:p>
                  </a:txBody>
                  <a:tcPr/>
                </a:tc>
                <a:tc>
                  <a:txBody>
                    <a:bodyPr/>
                    <a:lstStyle/>
                    <a:p>
                      <a:pPr algn="l"/>
                      <a:r>
                        <a:rPr lang="en-US" sz="1200" dirty="0"/>
                        <a:t>No Deep Learning</a:t>
                      </a:r>
                    </a:p>
                  </a:txBody>
                  <a:tcPr/>
                </a:tc>
                <a:extLst>
                  <a:ext uri="{0D108BD9-81ED-4DB2-BD59-A6C34878D82A}">
                    <a16:rowId xmlns:a16="http://schemas.microsoft.com/office/drawing/2014/main" val="10002"/>
                  </a:ext>
                </a:extLst>
              </a:tr>
              <a:tr h="789103">
                <a:tc>
                  <a:txBody>
                    <a:bodyPr/>
                    <a:lstStyle/>
                    <a:p>
                      <a:pPr algn="ctr"/>
                      <a:r>
                        <a:rPr lang="en-US" sz="1200" dirty="0"/>
                        <a:t>3</a:t>
                      </a:r>
                    </a:p>
                  </a:txBody>
                  <a:tcPr/>
                </a:tc>
                <a:tc>
                  <a:txBody>
                    <a:bodyPr/>
                    <a:lstStyle/>
                    <a:p>
                      <a:pPr algn="l"/>
                      <a:r>
                        <a:rPr lang="en-US" sz="1200" dirty="0"/>
                        <a:t>A Smart Assistive System for Visually Impaired People Using Deep Learning Techniques</a:t>
                      </a:r>
                    </a:p>
                  </a:txBody>
                  <a:tcPr/>
                </a:tc>
                <a:tc>
                  <a:txBody>
                    <a:bodyPr/>
                    <a:lstStyle/>
                    <a:p>
                      <a:pPr algn="l"/>
                      <a:r>
                        <a:rPr lang="en-US" sz="1200" dirty="0"/>
                        <a:t>ImageNet, COCO</a:t>
                      </a:r>
                    </a:p>
                  </a:txBody>
                  <a:tcPr/>
                </a:tc>
                <a:tc>
                  <a:txBody>
                    <a:bodyPr/>
                    <a:lstStyle/>
                    <a:p>
                      <a:pPr algn="l"/>
                      <a:r>
                        <a:rPr lang="en-US" sz="1200" dirty="0"/>
                        <a:t>CNN-based models</a:t>
                      </a:r>
                    </a:p>
                  </a:txBody>
                  <a:tcPr/>
                </a:tc>
                <a:tc>
                  <a:txBody>
                    <a:bodyPr/>
                    <a:lstStyle/>
                    <a:p>
                      <a:r>
                        <a:rPr lang="en-US" sz="1200" dirty="0"/>
                        <a:t>Uses CNN-based models trained on ImageNet and COCO datasets.</a:t>
                      </a:r>
                      <a:endParaRPr lang="en-IN" sz="1200" dirty="0"/>
                    </a:p>
                  </a:txBody>
                  <a:tcPr/>
                </a:tc>
                <a:tc>
                  <a:txBody>
                    <a:bodyPr/>
                    <a:lstStyle/>
                    <a:p>
                      <a:pPr algn="l"/>
                      <a:r>
                        <a:rPr lang="en-US" sz="1200" dirty="0"/>
                        <a:t>Limited Real-Time Efficiency</a:t>
                      </a:r>
                    </a:p>
                  </a:txBody>
                  <a:tcPr/>
                </a:tc>
                <a:extLst>
                  <a:ext uri="{0D108BD9-81ED-4DB2-BD59-A6C34878D82A}">
                    <a16:rowId xmlns:a16="http://schemas.microsoft.com/office/drawing/2014/main" val="10003"/>
                  </a:ext>
                </a:extLst>
              </a:tr>
              <a:tr h="789103">
                <a:tc>
                  <a:txBody>
                    <a:bodyPr/>
                    <a:lstStyle/>
                    <a:p>
                      <a:pPr algn="ctr"/>
                      <a:r>
                        <a:rPr lang="en-US" sz="1200" dirty="0"/>
                        <a:t>4</a:t>
                      </a:r>
                    </a:p>
                  </a:txBody>
                  <a:tcPr/>
                </a:tc>
                <a:tc>
                  <a:txBody>
                    <a:bodyPr/>
                    <a:lstStyle/>
                    <a:p>
                      <a:pPr algn="l"/>
                      <a:r>
                        <a:rPr lang="en-US" sz="1200" dirty="0"/>
                        <a:t>Vision-Based Mobile Indoor Assistive Navigation Aid for Blind People</a:t>
                      </a:r>
                    </a:p>
                  </a:txBody>
                  <a:tcPr/>
                </a:tc>
                <a:tc>
                  <a:txBody>
                    <a:bodyPr/>
                    <a:lstStyle/>
                    <a:p>
                      <a:pPr algn="l"/>
                      <a:r>
                        <a:rPr lang="en-US" sz="1200" dirty="0"/>
                        <a:t>Live indoor visual data</a:t>
                      </a:r>
                    </a:p>
                  </a:txBody>
                  <a:tcPr/>
                </a:tc>
                <a:tc>
                  <a:txBody>
                    <a:bodyPr/>
                    <a:lstStyle/>
                    <a:p>
                      <a:pPr algn="l"/>
                      <a:r>
                        <a:rPr lang="en-US" sz="1200" dirty="0"/>
                        <a:t>Kalman filter (TSM-KF) algorithm</a:t>
                      </a:r>
                    </a:p>
                  </a:txBody>
                  <a:tcPr/>
                </a:tc>
                <a:tc>
                  <a:txBody>
                    <a:bodyPr/>
                    <a:lstStyle/>
                    <a:p>
                      <a:r>
                        <a:rPr lang="en-US" sz="1200" dirty="0"/>
                        <a:t>Applies </a:t>
                      </a:r>
                      <a:r>
                        <a:rPr lang="en-IN" sz="1200" dirty="0"/>
                        <a:t>Kalman filter (TSM-KF) algorithm on live indoor visual data.</a:t>
                      </a:r>
                    </a:p>
                  </a:txBody>
                  <a:tcPr/>
                </a:tc>
                <a:tc>
                  <a:txBody>
                    <a:bodyPr/>
                    <a:lstStyle/>
                    <a:p>
                      <a:pPr algn="l"/>
                      <a:r>
                        <a:rPr lang="en-US" sz="1200" dirty="0"/>
                        <a:t>Limited to Indoor Environment</a:t>
                      </a:r>
                    </a:p>
                  </a:txBody>
                  <a:tcPr/>
                </a:tc>
                <a:extLst>
                  <a:ext uri="{0D108BD9-81ED-4DB2-BD59-A6C34878D82A}">
                    <a16:rowId xmlns:a16="http://schemas.microsoft.com/office/drawing/2014/main" val="10004"/>
                  </a:ext>
                </a:extLst>
              </a:tr>
              <a:tr h="789103">
                <a:tc>
                  <a:txBody>
                    <a:bodyPr/>
                    <a:lstStyle/>
                    <a:p>
                      <a:pPr algn="ctr"/>
                      <a:r>
                        <a:rPr lang="en-US" sz="1200" dirty="0"/>
                        <a:t>5</a:t>
                      </a:r>
                    </a:p>
                  </a:txBody>
                  <a:tcPr/>
                </a:tc>
                <a:tc>
                  <a:txBody>
                    <a:bodyPr/>
                    <a:lstStyle/>
                    <a:p>
                      <a:pPr algn="l"/>
                      <a:r>
                        <a:rPr lang="en-US" sz="1200" dirty="0"/>
                        <a:t>Vision-Based Mobile Indoor Assistive Navigation Aid for Blind People</a:t>
                      </a:r>
                    </a:p>
                  </a:txBody>
                  <a:tcPr/>
                </a:tc>
                <a:tc>
                  <a:txBody>
                    <a:bodyPr/>
                    <a:lstStyle/>
                    <a:p>
                      <a:pPr algn="l"/>
                      <a:r>
                        <a:rPr lang="en-US" sz="1200" dirty="0"/>
                        <a:t>Live indoor visual data</a:t>
                      </a:r>
                    </a:p>
                  </a:txBody>
                  <a:tcPr/>
                </a:tc>
                <a:tc>
                  <a:txBody>
                    <a:bodyPr/>
                    <a:lstStyle/>
                    <a:p>
                      <a:pPr algn="l"/>
                      <a:r>
                        <a:rPr lang="en-US" sz="1200" dirty="0"/>
                        <a:t>Kalman filter (TSM-KF) algorithm,3D grid map + semantic layers,vps</a:t>
                      </a:r>
                    </a:p>
                  </a:txBody>
                  <a:tcPr/>
                </a:tc>
                <a:tc>
                  <a:txBody>
                    <a:bodyPr/>
                    <a:lstStyle/>
                    <a:p>
                      <a:r>
                        <a:rPr lang="en-US" sz="1200" dirty="0"/>
                        <a:t>Combines Kalman filter, 3D grid map, semantic layers, and VPS.</a:t>
                      </a:r>
                      <a:endParaRPr lang="en-IN" sz="1200" dirty="0"/>
                    </a:p>
                  </a:txBody>
                  <a:tcPr/>
                </a:tc>
                <a:tc>
                  <a:txBody>
                    <a:bodyPr/>
                    <a:lstStyle/>
                    <a:p>
                      <a:pPr algn="l"/>
                      <a:r>
                        <a:rPr lang="en-US" sz="1200" dirty="0"/>
                        <a:t>Limited to Indoor Environment</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15148" y="633253"/>
            <a:ext cx="6449961" cy="477837"/>
          </a:xfrm>
        </p:spPr>
        <p:txBody>
          <a:bodyPr>
            <a:normAutofit fontScale="90000"/>
          </a:bodyPr>
          <a:lstStyle/>
          <a:p>
            <a:r>
              <a:rPr lang="en-IN" sz="3200" b="1" dirty="0">
                <a:latin typeface="Times New Roman" panose="02020603050405020304" pitchFamily="18" charset="0"/>
              </a:rPr>
              <a:t>Literature Review(Cont...)</a:t>
            </a:r>
          </a:p>
        </p:txBody>
      </p:sp>
      <p:graphicFrame>
        <p:nvGraphicFramePr>
          <p:cNvPr id="6" name="Table 5"/>
          <p:cNvGraphicFramePr>
            <a:graphicFrameLocks noGrp="1"/>
          </p:cNvGraphicFramePr>
          <p:nvPr>
            <p:extLst>
              <p:ext uri="{D42A27DB-BD31-4B8C-83A1-F6EECF244321}">
                <p14:modId xmlns:p14="http://schemas.microsoft.com/office/powerpoint/2010/main" val="1474223807"/>
              </p:ext>
            </p:extLst>
          </p:nvPr>
        </p:nvGraphicFramePr>
        <p:xfrm>
          <a:off x="403123" y="1602657"/>
          <a:ext cx="11700387" cy="4622090"/>
        </p:xfrm>
        <a:graphic>
          <a:graphicData uri="http://schemas.openxmlformats.org/drawingml/2006/table">
            <a:tbl>
              <a:tblPr firstRow="1" bandRow="1">
                <a:tableStyleId>{5C22544A-7EE6-4342-B048-85BDC9FD1C3A}</a:tableStyleId>
              </a:tblPr>
              <a:tblGrid>
                <a:gridCol w="454478">
                  <a:extLst>
                    <a:ext uri="{9D8B030D-6E8A-4147-A177-3AD203B41FA5}">
                      <a16:colId xmlns:a16="http://schemas.microsoft.com/office/drawing/2014/main" val="20000"/>
                    </a:ext>
                  </a:extLst>
                </a:gridCol>
                <a:gridCol w="2674395">
                  <a:extLst>
                    <a:ext uri="{9D8B030D-6E8A-4147-A177-3AD203B41FA5}">
                      <a16:colId xmlns:a16="http://schemas.microsoft.com/office/drawing/2014/main" val="20001"/>
                    </a:ext>
                  </a:extLst>
                </a:gridCol>
                <a:gridCol w="1787928">
                  <a:extLst>
                    <a:ext uri="{9D8B030D-6E8A-4147-A177-3AD203B41FA5}">
                      <a16:colId xmlns:a16="http://schemas.microsoft.com/office/drawing/2014/main" val="20002"/>
                    </a:ext>
                  </a:extLst>
                </a:gridCol>
                <a:gridCol w="2031736">
                  <a:extLst>
                    <a:ext uri="{9D8B030D-6E8A-4147-A177-3AD203B41FA5}">
                      <a16:colId xmlns:a16="http://schemas.microsoft.com/office/drawing/2014/main" val="20003"/>
                    </a:ext>
                  </a:extLst>
                </a:gridCol>
                <a:gridCol w="2324746">
                  <a:extLst>
                    <a:ext uri="{9D8B030D-6E8A-4147-A177-3AD203B41FA5}">
                      <a16:colId xmlns:a16="http://schemas.microsoft.com/office/drawing/2014/main" val="1717438460"/>
                    </a:ext>
                  </a:extLst>
                </a:gridCol>
                <a:gridCol w="2427104">
                  <a:extLst>
                    <a:ext uri="{9D8B030D-6E8A-4147-A177-3AD203B41FA5}">
                      <a16:colId xmlns:a16="http://schemas.microsoft.com/office/drawing/2014/main" val="20004"/>
                    </a:ext>
                  </a:extLst>
                </a:gridCol>
              </a:tblGrid>
              <a:tr h="437744">
                <a:tc>
                  <a:txBody>
                    <a:bodyPr/>
                    <a:lstStyle/>
                    <a:p>
                      <a:pPr algn="ctr"/>
                      <a:r>
                        <a:rPr lang="en-US" sz="1200" b="1" dirty="0"/>
                        <a:t>SL NO</a:t>
                      </a:r>
                    </a:p>
                  </a:txBody>
                  <a:tcPr/>
                </a:tc>
                <a:tc>
                  <a:txBody>
                    <a:bodyPr/>
                    <a:lstStyle/>
                    <a:p>
                      <a:pPr algn="ctr"/>
                      <a:r>
                        <a:rPr lang="en-US" sz="1200" b="1" dirty="0"/>
                        <a:t>TITLE</a:t>
                      </a:r>
                    </a:p>
                  </a:txBody>
                  <a:tcPr/>
                </a:tc>
                <a:tc>
                  <a:txBody>
                    <a:bodyPr/>
                    <a:lstStyle/>
                    <a:p>
                      <a:pPr algn="ctr"/>
                      <a:r>
                        <a:rPr lang="en-US" sz="1200" b="1" dirty="0"/>
                        <a:t>DATASET</a:t>
                      </a:r>
                    </a:p>
                  </a:txBody>
                  <a:tcPr/>
                </a:tc>
                <a:tc>
                  <a:txBody>
                    <a:bodyPr/>
                    <a:lstStyle/>
                    <a:p>
                      <a:pPr algn="ctr"/>
                      <a:r>
                        <a:rPr lang="en-US" sz="1200" b="1" dirty="0"/>
                        <a:t>METHOD</a:t>
                      </a:r>
                    </a:p>
                  </a:txBody>
                  <a:tcPr/>
                </a:tc>
                <a:tc>
                  <a:txBody>
                    <a:bodyPr/>
                    <a:lstStyle/>
                    <a:p>
                      <a:pPr algn="ctr"/>
                      <a:r>
                        <a:rPr lang="en-US" sz="1200" b="1" dirty="0"/>
                        <a:t>ADVANTAGES</a:t>
                      </a:r>
                    </a:p>
                  </a:txBody>
                  <a:tcPr/>
                </a:tc>
                <a:tc>
                  <a:txBody>
                    <a:bodyPr/>
                    <a:lstStyle/>
                    <a:p>
                      <a:pPr algn="ctr"/>
                      <a:r>
                        <a:rPr lang="en-US" sz="1200" b="1" dirty="0"/>
                        <a:t>RESEARCH GAP</a:t>
                      </a:r>
                    </a:p>
                    <a:p>
                      <a:pPr algn="ctr"/>
                      <a:r>
                        <a:rPr lang="en-US" sz="1200" b="1" dirty="0"/>
                        <a:t>(Disadvantages)</a:t>
                      </a:r>
                    </a:p>
                  </a:txBody>
                  <a:tcPr/>
                </a:tc>
                <a:extLst>
                  <a:ext uri="{0D108BD9-81ED-4DB2-BD59-A6C34878D82A}">
                    <a16:rowId xmlns:a16="http://schemas.microsoft.com/office/drawing/2014/main" val="10000"/>
                  </a:ext>
                </a:extLst>
              </a:tr>
              <a:tr h="832978">
                <a:tc>
                  <a:txBody>
                    <a:bodyPr/>
                    <a:lstStyle/>
                    <a:p>
                      <a:pPr algn="ctr"/>
                      <a:r>
                        <a:rPr lang="en-US" sz="1200" dirty="0"/>
                        <a:t>6</a:t>
                      </a:r>
                    </a:p>
                  </a:txBody>
                  <a:tcPr/>
                </a:tc>
                <a:tc>
                  <a:txBody>
                    <a:bodyPr/>
                    <a:lstStyle/>
                    <a:p>
                      <a:pPr algn="l"/>
                      <a:r>
                        <a:rPr lang="en-US" sz="1200" dirty="0"/>
                        <a:t>Obstacle Detection System using Depth Estimation and CNN</a:t>
                      </a:r>
                    </a:p>
                  </a:txBody>
                  <a:tcPr/>
                </a:tc>
                <a:tc>
                  <a:txBody>
                    <a:bodyPr/>
                    <a:lstStyle/>
                    <a:p>
                      <a:pPr algn="l"/>
                      <a:r>
                        <a:rPr lang="en-US" sz="1200" dirty="0"/>
                        <a:t>KITTI dataset</a:t>
                      </a:r>
                    </a:p>
                  </a:txBody>
                  <a:tcPr/>
                </a:tc>
                <a:tc>
                  <a:txBody>
                    <a:bodyPr/>
                    <a:lstStyle/>
                    <a:p>
                      <a:pPr algn="l"/>
                      <a:r>
                        <a:rPr lang="en-US" sz="1200" dirty="0"/>
                        <a:t>Depth estimation + CNN for distance calculation and object detection</a:t>
                      </a:r>
                    </a:p>
                  </a:txBody>
                  <a:tcPr/>
                </a:tc>
                <a:tc>
                  <a:txBody>
                    <a:bodyPr/>
                    <a:lstStyle/>
                    <a:p>
                      <a:pPr algn="l"/>
                      <a:r>
                        <a:rPr lang="en-US" sz="1200" dirty="0"/>
                        <a:t>Combines depth estimation and CNNs for distance calculation and object detection.</a:t>
                      </a:r>
                    </a:p>
                  </a:txBody>
                  <a:tcPr/>
                </a:tc>
                <a:tc>
                  <a:txBody>
                    <a:bodyPr/>
                    <a:lstStyle/>
                    <a:p>
                      <a:pPr algn="l"/>
                      <a:r>
                        <a:rPr lang="en-US" sz="1200" dirty="0"/>
                        <a:t>Complex computation; limited indoor performance</a:t>
                      </a:r>
                    </a:p>
                  </a:txBody>
                  <a:tcPr/>
                </a:tc>
                <a:extLst>
                  <a:ext uri="{0D108BD9-81ED-4DB2-BD59-A6C34878D82A}">
                    <a16:rowId xmlns:a16="http://schemas.microsoft.com/office/drawing/2014/main" val="10001"/>
                  </a:ext>
                </a:extLst>
              </a:tr>
              <a:tr h="832978">
                <a:tc>
                  <a:txBody>
                    <a:bodyPr/>
                    <a:lstStyle/>
                    <a:p>
                      <a:pPr algn="ctr"/>
                      <a:r>
                        <a:rPr lang="en-US" sz="1200" dirty="0"/>
                        <a:t>7</a:t>
                      </a:r>
                    </a:p>
                  </a:txBody>
                  <a:tcPr/>
                </a:tc>
                <a:tc>
                  <a:txBody>
                    <a:bodyPr/>
                    <a:lstStyle/>
                    <a:p>
                      <a:pPr algn="l"/>
                      <a:r>
                        <a:rPr lang="en-US" sz="1200" dirty="0"/>
                        <a:t>AI-Based Wearable Navigation System using YOLOv5</a:t>
                      </a:r>
                    </a:p>
                  </a:txBody>
                  <a:tcPr/>
                </a:tc>
                <a:tc>
                  <a:txBody>
                    <a:bodyPr/>
                    <a:lstStyle/>
                    <a:p>
                      <a:pPr algn="l"/>
                      <a:r>
                        <a:rPr lang="en-US" sz="1200" dirty="0"/>
                        <a:t>COCO dataset + custom dataset</a:t>
                      </a:r>
                    </a:p>
                  </a:txBody>
                  <a:tcPr/>
                </a:tc>
                <a:tc>
                  <a:txBody>
                    <a:bodyPr/>
                    <a:lstStyle/>
                    <a:p>
                      <a:pPr algn="l"/>
                      <a:r>
                        <a:rPr lang="en-US" sz="1200" dirty="0"/>
                        <a:t>YOLOv5 for real-time object detection with voice feedback</a:t>
                      </a:r>
                    </a:p>
                  </a:txBody>
                  <a:tcPr/>
                </a:tc>
                <a:tc>
                  <a:txBody>
                    <a:bodyPr/>
                    <a:lstStyle/>
                    <a:p>
                      <a:pPr algn="l"/>
                      <a:r>
                        <a:rPr lang="en-US" sz="1200" dirty="0"/>
                        <a:t>Uses YOLOv5 for fast, real-time object detection with voice feedback.</a:t>
                      </a:r>
                    </a:p>
                  </a:txBody>
                  <a:tcPr/>
                </a:tc>
                <a:tc>
                  <a:txBody>
                    <a:bodyPr/>
                    <a:lstStyle/>
                    <a:p>
                      <a:pPr algn="l"/>
                      <a:r>
                        <a:rPr lang="en-US" sz="1200" dirty="0"/>
                        <a:t>Requires GPU for optimal performance</a:t>
                      </a:r>
                    </a:p>
                  </a:txBody>
                  <a:tcPr/>
                </a:tc>
                <a:extLst>
                  <a:ext uri="{0D108BD9-81ED-4DB2-BD59-A6C34878D82A}">
                    <a16:rowId xmlns:a16="http://schemas.microsoft.com/office/drawing/2014/main" val="10002"/>
                  </a:ext>
                </a:extLst>
              </a:tr>
              <a:tr h="832978">
                <a:tc>
                  <a:txBody>
                    <a:bodyPr/>
                    <a:lstStyle/>
                    <a:p>
                      <a:pPr algn="ctr"/>
                      <a:r>
                        <a:rPr lang="en-US" sz="1200" dirty="0"/>
                        <a:t>8</a:t>
                      </a:r>
                    </a:p>
                  </a:txBody>
                  <a:tcPr/>
                </a:tc>
                <a:tc>
                  <a:txBody>
                    <a:bodyPr/>
                    <a:lstStyle/>
                    <a:p>
                      <a:pPr algn="l"/>
                      <a:r>
                        <a:rPr lang="en-US" sz="1200" dirty="0"/>
                        <a:t>Real-Time Scene Understanding for Visually Impaired using CNN</a:t>
                      </a:r>
                    </a:p>
                  </a:txBody>
                  <a:tcPr/>
                </a:tc>
                <a:tc>
                  <a:txBody>
                    <a:bodyPr/>
                    <a:lstStyle/>
                    <a:p>
                      <a:pPr algn="l"/>
                      <a:r>
                        <a:rPr lang="en-US" sz="1200" dirty="0"/>
                        <a:t>ADE20K dataset</a:t>
                      </a:r>
                    </a:p>
                  </a:txBody>
                  <a:tcPr/>
                </a:tc>
                <a:tc>
                  <a:txBody>
                    <a:bodyPr/>
                    <a:lstStyle/>
                    <a:p>
                      <a:pPr algn="l"/>
                      <a:r>
                        <a:rPr lang="en-US" sz="1200" dirty="0"/>
                        <a:t>CNN-based scene classification and object detection</a:t>
                      </a:r>
                    </a:p>
                  </a:txBody>
                  <a:tcPr/>
                </a:tc>
                <a:tc>
                  <a:txBody>
                    <a:bodyPr/>
                    <a:lstStyle/>
                    <a:p>
                      <a:pPr algn="l"/>
                      <a:r>
                        <a:rPr lang="en-US" sz="1200" dirty="0"/>
                        <a:t>Applies CNN-based scene classification and object detection.</a:t>
                      </a:r>
                    </a:p>
                  </a:txBody>
                  <a:tcPr/>
                </a:tc>
                <a:tc>
                  <a:txBody>
                    <a:bodyPr/>
                    <a:lstStyle/>
                    <a:p>
                      <a:pPr algn="l"/>
                      <a:r>
                        <a:rPr lang="en-US" sz="1200" dirty="0"/>
                        <a:t>Limited real-time efficiency</a:t>
                      </a:r>
                    </a:p>
                  </a:txBody>
                  <a:tcPr/>
                </a:tc>
                <a:extLst>
                  <a:ext uri="{0D108BD9-81ED-4DB2-BD59-A6C34878D82A}">
                    <a16:rowId xmlns:a16="http://schemas.microsoft.com/office/drawing/2014/main" val="10003"/>
                  </a:ext>
                </a:extLst>
              </a:tr>
              <a:tr h="832978">
                <a:tc>
                  <a:txBody>
                    <a:bodyPr/>
                    <a:lstStyle/>
                    <a:p>
                      <a:pPr algn="ctr"/>
                      <a:r>
                        <a:rPr lang="en-US" sz="1200" dirty="0"/>
                        <a:t>9</a:t>
                      </a:r>
                    </a:p>
                  </a:txBody>
                  <a:tcPr/>
                </a:tc>
                <a:tc>
                  <a:txBody>
                    <a:bodyPr/>
                    <a:lstStyle/>
                    <a:p>
                      <a:pPr algn="l"/>
                      <a:r>
                        <a:rPr lang="en-US" sz="1200" dirty="0"/>
                        <a:t>Assistive System using Semantic Segmentation for Navigation</a:t>
                      </a:r>
                    </a:p>
                  </a:txBody>
                  <a:tcPr/>
                </a:tc>
                <a:tc>
                  <a:txBody>
                    <a:bodyPr/>
                    <a:lstStyle/>
                    <a:p>
                      <a:pPr algn="l"/>
                      <a:r>
                        <a:rPr lang="en-US" sz="1200" dirty="0"/>
                        <a:t>Cityscapes dataset</a:t>
                      </a:r>
                    </a:p>
                  </a:txBody>
                  <a:tcPr/>
                </a:tc>
                <a:tc>
                  <a:txBody>
                    <a:bodyPr/>
                    <a:lstStyle/>
                    <a:p>
                      <a:pPr algn="l"/>
                      <a:r>
                        <a:rPr lang="en-US" sz="1200" dirty="0"/>
                        <a:t>Semantic segmentation for path detection and obstacle avoidance</a:t>
                      </a:r>
                    </a:p>
                  </a:txBody>
                  <a:tcPr/>
                </a:tc>
                <a:tc>
                  <a:txBody>
                    <a:bodyPr/>
                    <a:lstStyle/>
                    <a:p>
                      <a:pPr algn="l"/>
                      <a:r>
                        <a:rPr lang="en-US" sz="1200" dirty="0"/>
                        <a:t>Uses Semantic Segmentation for precise path detection and obstacle avoidance.</a:t>
                      </a:r>
                    </a:p>
                  </a:txBody>
                  <a:tcPr/>
                </a:tc>
                <a:tc>
                  <a:txBody>
                    <a:bodyPr/>
                    <a:lstStyle/>
                    <a:p>
                      <a:pPr algn="l"/>
                      <a:r>
                        <a:rPr lang="en-US" sz="1200" dirty="0"/>
                        <a:t>High computational cost; requires powerful hardware</a:t>
                      </a:r>
                    </a:p>
                  </a:txBody>
                  <a:tcPr/>
                </a:tc>
                <a:extLst>
                  <a:ext uri="{0D108BD9-81ED-4DB2-BD59-A6C34878D82A}">
                    <a16:rowId xmlns:a16="http://schemas.microsoft.com/office/drawing/2014/main" val="10004"/>
                  </a:ext>
                </a:extLst>
              </a:tr>
              <a:tr h="832978">
                <a:tc>
                  <a:txBody>
                    <a:bodyPr/>
                    <a:lstStyle/>
                    <a:p>
                      <a:pPr algn="ctr"/>
                      <a:r>
                        <a:rPr lang="en-US" sz="1200" dirty="0"/>
                        <a:t>10</a:t>
                      </a:r>
                    </a:p>
                  </a:txBody>
                  <a:tcPr/>
                </a:tc>
                <a:tc>
                  <a:txBody>
                    <a:bodyPr/>
                    <a:lstStyle/>
                    <a:p>
                      <a:pPr algn="l"/>
                      <a:r>
                        <a:rPr lang="en-US" sz="1200" dirty="0"/>
                        <a:t>Smart Glasses for Blind using Deep Learning</a:t>
                      </a:r>
                    </a:p>
                  </a:txBody>
                  <a:tcPr/>
                </a:tc>
                <a:tc>
                  <a:txBody>
                    <a:bodyPr/>
                    <a:lstStyle/>
                    <a:p>
                      <a:pPr algn="l"/>
                      <a:r>
                        <a:rPr lang="en-US" sz="1200" dirty="0"/>
                        <a:t>Custom dataset</a:t>
                      </a:r>
                    </a:p>
                  </a:txBody>
                  <a:tcPr/>
                </a:tc>
                <a:tc>
                  <a:txBody>
                    <a:bodyPr/>
                    <a:lstStyle/>
                    <a:p>
                      <a:pPr algn="l"/>
                      <a:r>
                        <a:rPr lang="en-US" sz="1200" dirty="0"/>
                        <a:t>Deep learning (CNN + object detection) integrated into wearable glasses</a:t>
                      </a:r>
                    </a:p>
                  </a:txBody>
                  <a:tcPr/>
                </a:tc>
                <a:tc>
                  <a:txBody>
                    <a:bodyPr/>
                    <a:lstStyle/>
                    <a:p>
                      <a:pPr algn="l"/>
                      <a:r>
                        <a:rPr lang="en-US" sz="1200" dirty="0"/>
                        <a:t>Deep learning (CNN + object detection) integrated directly into wearable glasses.</a:t>
                      </a:r>
                    </a:p>
                  </a:txBody>
                  <a:tcPr/>
                </a:tc>
                <a:tc>
                  <a:txBody>
                    <a:bodyPr/>
                    <a:lstStyle/>
                    <a:p>
                      <a:pPr algn="l"/>
                      <a:r>
                        <a:rPr lang="en-US" sz="1200" dirty="0"/>
                        <a:t>Limited battery life and hardware dependency</a:t>
                      </a:r>
                    </a:p>
                  </a:txBody>
                  <a:tcPr/>
                </a:tc>
                <a:extLst>
                  <a:ext uri="{0D108BD9-81ED-4DB2-BD59-A6C34878D82A}">
                    <a16:rowId xmlns:a16="http://schemas.microsoft.com/office/drawing/2014/main" val="10005"/>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0CEE5-69C4-7C52-6188-6D713D9C176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B565FF4-ECBD-F53B-E3A7-F54D65171E96}"/>
              </a:ext>
            </a:extLst>
          </p:cNvPr>
          <p:cNvSpPr>
            <a:spLocks noGrp="1"/>
          </p:cNvSpPr>
          <p:nvPr>
            <p:ph type="title"/>
          </p:nvPr>
        </p:nvSpPr>
        <p:spPr>
          <a:xfrm>
            <a:off x="2939845" y="467481"/>
            <a:ext cx="7067271" cy="1044524"/>
          </a:xfrm>
        </p:spPr>
        <p:txBody>
          <a:bodyPr>
            <a:normAutofit/>
          </a:bodyPr>
          <a:lstStyle/>
          <a:p>
            <a:r>
              <a:rPr lang="en-US" sz="4000" b="1" dirty="0">
                <a:latin typeface="Times New Roman" pitchFamily="18" charset="0"/>
                <a:cs typeface="Times New Roman" pitchFamily="18" charset="0"/>
              </a:rPr>
              <a:t>Datasets</a:t>
            </a:r>
          </a:p>
        </p:txBody>
      </p:sp>
      <p:graphicFrame>
        <p:nvGraphicFramePr>
          <p:cNvPr id="6" name="Content Placeholder 5">
            <a:extLst>
              <a:ext uri="{FF2B5EF4-FFF2-40B4-BE49-F238E27FC236}">
                <a16:creationId xmlns:a16="http://schemas.microsoft.com/office/drawing/2014/main" id="{6633FC65-B157-5272-E32B-C307654341FA}"/>
              </a:ext>
            </a:extLst>
          </p:cNvPr>
          <p:cNvGraphicFramePr>
            <a:graphicFrameLocks noGrp="1"/>
          </p:cNvGraphicFramePr>
          <p:nvPr>
            <p:ph sz="half" idx="1"/>
          </p:nvPr>
        </p:nvGraphicFramePr>
        <p:xfrm>
          <a:off x="265472" y="1825625"/>
          <a:ext cx="11661058" cy="3892298"/>
        </p:xfrm>
        <a:graphic>
          <a:graphicData uri="http://schemas.openxmlformats.org/drawingml/2006/table">
            <a:tbl>
              <a:tblPr firstRow="1" bandRow="1">
                <a:tableStyleId>{5C22544A-7EE6-4342-B048-85BDC9FD1C3A}</a:tableStyleId>
              </a:tblPr>
              <a:tblGrid>
                <a:gridCol w="1061883">
                  <a:extLst>
                    <a:ext uri="{9D8B030D-6E8A-4147-A177-3AD203B41FA5}">
                      <a16:colId xmlns:a16="http://schemas.microsoft.com/office/drawing/2014/main" val="2646885400"/>
                    </a:ext>
                  </a:extLst>
                </a:gridCol>
                <a:gridCol w="2684206">
                  <a:extLst>
                    <a:ext uri="{9D8B030D-6E8A-4147-A177-3AD203B41FA5}">
                      <a16:colId xmlns:a16="http://schemas.microsoft.com/office/drawing/2014/main" val="204976237"/>
                    </a:ext>
                  </a:extLst>
                </a:gridCol>
                <a:gridCol w="2703871">
                  <a:extLst>
                    <a:ext uri="{9D8B030D-6E8A-4147-A177-3AD203B41FA5}">
                      <a16:colId xmlns:a16="http://schemas.microsoft.com/office/drawing/2014/main" val="1139128243"/>
                    </a:ext>
                  </a:extLst>
                </a:gridCol>
                <a:gridCol w="2536723">
                  <a:extLst>
                    <a:ext uri="{9D8B030D-6E8A-4147-A177-3AD203B41FA5}">
                      <a16:colId xmlns:a16="http://schemas.microsoft.com/office/drawing/2014/main" val="133621543"/>
                    </a:ext>
                  </a:extLst>
                </a:gridCol>
                <a:gridCol w="2674375">
                  <a:extLst>
                    <a:ext uri="{9D8B030D-6E8A-4147-A177-3AD203B41FA5}">
                      <a16:colId xmlns:a16="http://schemas.microsoft.com/office/drawing/2014/main" val="315009318"/>
                    </a:ext>
                  </a:extLst>
                </a:gridCol>
              </a:tblGrid>
              <a:tr h="0">
                <a:tc>
                  <a:txBody>
                    <a:bodyPr/>
                    <a:lstStyle/>
                    <a:p>
                      <a:pPr algn="ctr"/>
                      <a:endParaRPr lang="en-IN" b="1" dirty="0"/>
                    </a:p>
                  </a:txBody>
                  <a:tcPr anchor="ctr"/>
                </a:tc>
                <a:tc>
                  <a:txBody>
                    <a:bodyPr/>
                    <a:lstStyle/>
                    <a:p>
                      <a:pPr algn="ctr"/>
                      <a:r>
                        <a:rPr lang="en-US" b="1" dirty="0"/>
                        <a:t>MODULE 1</a:t>
                      </a: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MODULE 2</a:t>
                      </a:r>
                      <a:endParaRPr lang="en-IN" b="1" dirty="0"/>
                    </a:p>
                    <a:p>
                      <a:pPr algn="ct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MODULE 3</a:t>
                      </a:r>
                      <a:endParaRPr lang="en-IN" b="1" dirty="0"/>
                    </a:p>
                    <a:p>
                      <a:pPr algn="ctr"/>
                      <a:endParaRPr lang="en-IN" b="1"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b="1" dirty="0"/>
                        <a:t>MODULE 4</a:t>
                      </a:r>
                      <a:endParaRPr lang="en-IN" b="1" dirty="0"/>
                    </a:p>
                  </a:txBody>
                  <a:tcPr/>
                </a:tc>
                <a:extLst>
                  <a:ext uri="{0D108BD9-81ED-4DB2-BD59-A6C34878D82A}">
                    <a16:rowId xmlns:a16="http://schemas.microsoft.com/office/drawing/2014/main" val="254101814"/>
                  </a:ext>
                </a:extLst>
              </a:tr>
              <a:tr h="1626109">
                <a:tc>
                  <a:txBody>
                    <a:bodyPr/>
                    <a:lstStyle/>
                    <a:p>
                      <a:pPr algn="ctr"/>
                      <a:r>
                        <a:rPr lang="en-IN" b="1" dirty="0"/>
                        <a:t>Datasets</a:t>
                      </a:r>
                    </a:p>
                  </a:txBody>
                  <a:tcPr anchor="ctr"/>
                </a:tc>
                <a:tc>
                  <a:txBody>
                    <a:bodyPr/>
                    <a:lstStyle/>
                    <a:p>
                      <a:pPr marL="285750" indent="-285750" algn="l">
                        <a:buFont typeface="Arial" panose="020B0604020202020204" pitchFamily="34" charset="0"/>
                        <a:buChar char="•"/>
                      </a:pPr>
                      <a:r>
                        <a:rPr lang="en-IN" dirty="0"/>
                        <a:t>COCO 2017 </a:t>
                      </a:r>
                    </a:p>
                    <a:p>
                      <a:pPr marL="285750" indent="-285750" algn="l">
                        <a:buFont typeface="Arial" panose="020B0604020202020204" pitchFamily="34" charset="0"/>
                        <a:buChar char="•"/>
                      </a:pPr>
                      <a:r>
                        <a:rPr lang="en-IN" dirty="0" err="1"/>
                        <a:t>VizWiz</a:t>
                      </a:r>
                      <a:r>
                        <a:rPr lang="en-IN" dirty="0"/>
                        <a:t> 2024 </a:t>
                      </a:r>
                    </a:p>
                  </a:txBody>
                  <a:tcPr anchor="ctr"/>
                </a:tc>
                <a:tc>
                  <a:txBody>
                    <a:bodyPr/>
                    <a:lstStyle/>
                    <a:p>
                      <a:pPr marL="285750" indent="-285750" algn="l">
                        <a:buFont typeface="Arial" panose="020B0604020202020204" pitchFamily="34" charset="0"/>
                        <a:buChar char="•"/>
                      </a:pPr>
                      <a:r>
                        <a:rPr lang="en-IN" dirty="0" err="1"/>
                        <a:t>TextOCR</a:t>
                      </a:r>
                      <a:endParaRPr lang="en-IN" b="1" dirty="0"/>
                    </a:p>
                  </a:txBody>
                  <a:tcPr anchor="ctr"/>
                </a:tc>
                <a:tc>
                  <a:txBody>
                    <a:bodyPr/>
                    <a:lstStyle/>
                    <a:p>
                      <a:pPr marL="285750" indent="-285750" algn="l">
                        <a:buFont typeface="Arial" panose="020B0604020202020204" pitchFamily="34" charset="0"/>
                        <a:buChar char="•"/>
                      </a:pPr>
                      <a:r>
                        <a:rPr lang="en-IN" dirty="0"/>
                        <a:t>NYU Depth V2 </a:t>
                      </a:r>
                    </a:p>
                    <a:p>
                      <a:pPr marL="285750" indent="-285750" algn="l">
                        <a:buFont typeface="Arial" panose="020B0604020202020204" pitchFamily="34" charset="0"/>
                        <a:buChar char="•"/>
                      </a:pPr>
                      <a:r>
                        <a:rPr lang="en-IN" dirty="0"/>
                        <a:t>KITTI Depth </a:t>
                      </a:r>
                    </a:p>
                  </a:txBody>
                  <a:tcPr anchor="ctr"/>
                </a:tc>
                <a:tc>
                  <a:txBody>
                    <a:bodyPr/>
                    <a:lstStyle/>
                    <a:p>
                      <a:pPr marL="285750" indent="-285750" algn="l">
                        <a:buFont typeface="Arial" panose="020B0604020202020204" pitchFamily="34" charset="0"/>
                        <a:buChar char="•"/>
                      </a:pPr>
                      <a:r>
                        <a:rPr lang="en-IN" dirty="0"/>
                        <a:t>Custom Dataset</a:t>
                      </a:r>
                    </a:p>
                    <a:p>
                      <a:pPr marL="285750" indent="-285750" algn="l">
                        <a:buFont typeface="Arial" panose="020B0604020202020204" pitchFamily="34" charset="0"/>
                        <a:buChar char="•"/>
                      </a:pPr>
                      <a:r>
                        <a:rPr lang="en-IN" dirty="0" err="1"/>
                        <a:t>VizWiz</a:t>
                      </a:r>
                      <a:r>
                        <a:rPr lang="en-IN" dirty="0"/>
                        <a:t>-VQA</a:t>
                      </a:r>
                      <a:endParaRPr lang="en-IN" b="1" dirty="0"/>
                    </a:p>
                  </a:txBody>
                  <a:tcPr anchor="ctr"/>
                </a:tc>
                <a:extLst>
                  <a:ext uri="{0D108BD9-81ED-4DB2-BD59-A6C34878D82A}">
                    <a16:rowId xmlns:a16="http://schemas.microsoft.com/office/drawing/2014/main" val="4184921086"/>
                  </a:ext>
                </a:extLst>
              </a:tr>
              <a:tr h="1626109">
                <a:tc>
                  <a:txBody>
                    <a:bodyPr/>
                    <a:lstStyle/>
                    <a:p>
                      <a:pPr algn="ctr"/>
                      <a:r>
                        <a:rPr lang="en-IN" b="1" dirty="0"/>
                        <a:t>Purpose</a:t>
                      </a:r>
                    </a:p>
                  </a:txBody>
                  <a:tcPr anchor="ctr"/>
                </a:tc>
                <a:tc>
                  <a:txBody>
                    <a:bodyPr/>
                    <a:lstStyle/>
                    <a:p>
                      <a:pPr marL="285750" indent="-285750" algn="l">
                        <a:buFont typeface="Arial" panose="020B0604020202020204" pitchFamily="34" charset="0"/>
                        <a:buChar char="•"/>
                      </a:pPr>
                      <a:r>
                        <a:rPr lang="en-IN" dirty="0"/>
                        <a:t>Detect people</a:t>
                      </a:r>
                    </a:p>
                    <a:p>
                      <a:pPr marL="285750" indent="-285750" algn="l">
                        <a:buFont typeface="Arial" panose="020B0604020202020204" pitchFamily="34" charset="0"/>
                        <a:buChar char="•"/>
                      </a:pPr>
                      <a:r>
                        <a:rPr lang="en-IN" dirty="0"/>
                        <a:t> Vehicles</a:t>
                      </a:r>
                    </a:p>
                    <a:p>
                      <a:pPr marL="285750" indent="-285750" algn="l">
                        <a:buFont typeface="Arial" panose="020B0604020202020204" pitchFamily="34" charset="0"/>
                        <a:buChar char="•"/>
                      </a:pPr>
                      <a:r>
                        <a:rPr lang="en-IN" dirty="0"/>
                        <a:t> Furniture </a:t>
                      </a:r>
                    </a:p>
                    <a:p>
                      <a:pPr marL="285750" indent="-285750" algn="l">
                        <a:buFont typeface="Arial" panose="020B0604020202020204" pitchFamily="34" charset="0"/>
                        <a:buChar char="•"/>
                      </a:pPr>
                      <a:r>
                        <a:rPr lang="en-IN" dirty="0"/>
                        <a:t>Urban mobility hazards </a:t>
                      </a:r>
                    </a:p>
                    <a:p>
                      <a:pPr marL="285750" indent="-285750" algn="l">
                        <a:buFont typeface="Arial" panose="020B0604020202020204" pitchFamily="34" charset="0"/>
                        <a:buChar char="•"/>
                      </a:pPr>
                      <a:r>
                        <a:rPr lang="en-IN" dirty="0"/>
                        <a:t>Overhead obstacles</a:t>
                      </a:r>
                      <a:endParaRPr lang="en-IN" b="1" dirty="0"/>
                    </a:p>
                  </a:txBody>
                  <a:tcPr anchor="ctr"/>
                </a:tc>
                <a:tc>
                  <a:txBody>
                    <a:bodyPr/>
                    <a:lstStyle/>
                    <a:p>
                      <a:pPr marL="285750" indent="-285750" algn="l">
                        <a:buFont typeface="Arial" panose="020B0604020202020204" pitchFamily="34" charset="0"/>
                        <a:buChar char="•"/>
                      </a:pPr>
                      <a:r>
                        <a:rPr lang="en-IN" dirty="0"/>
                        <a:t>Signboard reading</a:t>
                      </a:r>
                    </a:p>
                    <a:p>
                      <a:pPr marL="285750" indent="-285750" algn="l">
                        <a:buFont typeface="Arial" panose="020B0604020202020204" pitchFamily="34" charset="0"/>
                        <a:buChar char="•"/>
                      </a:pPr>
                      <a:r>
                        <a:rPr lang="en-IN" dirty="0"/>
                        <a:t>Warning labels </a:t>
                      </a:r>
                    </a:p>
                    <a:p>
                      <a:pPr marL="285750" indent="-285750" algn="l">
                        <a:buFont typeface="Arial" panose="020B0604020202020204" pitchFamily="34" charset="0"/>
                        <a:buChar char="•"/>
                      </a:pPr>
                      <a:r>
                        <a:rPr lang="en-IN" dirty="0"/>
                        <a:t>Bus numbers</a:t>
                      </a:r>
                    </a:p>
                    <a:p>
                      <a:pPr marL="285750" indent="-285750" algn="l">
                        <a:buFont typeface="Arial" panose="020B0604020202020204" pitchFamily="34" charset="0"/>
                        <a:buChar char="•"/>
                      </a:pPr>
                      <a:r>
                        <a:rPr lang="en-IN" dirty="0"/>
                        <a:t>Environmental text recognition</a:t>
                      </a:r>
                      <a:endParaRPr lang="en-IN" b="1" dirty="0"/>
                    </a:p>
                  </a:txBody>
                  <a:tcPr anchor="ctr"/>
                </a:tc>
                <a:tc>
                  <a:txBody>
                    <a:bodyPr/>
                    <a:lstStyle/>
                    <a:p>
                      <a:pPr marL="285750" indent="-285750" algn="l">
                        <a:buFont typeface="Arial" panose="020B0604020202020204" pitchFamily="34" charset="0"/>
                        <a:buChar char="•"/>
                      </a:pPr>
                      <a:r>
                        <a:rPr lang="en-IN" dirty="0"/>
                        <a:t>Obstacle distance estimation </a:t>
                      </a:r>
                    </a:p>
                    <a:p>
                      <a:pPr marL="285750" indent="-285750" algn="l">
                        <a:buFont typeface="Arial" panose="020B0604020202020204" pitchFamily="34" charset="0"/>
                        <a:buChar char="•"/>
                      </a:pPr>
                      <a:r>
                        <a:rPr lang="en-IN" dirty="0"/>
                        <a:t>Hazard prioritization</a:t>
                      </a:r>
                      <a:endParaRPr lang="en-IN" b="1" dirty="0"/>
                    </a:p>
                  </a:txBody>
                  <a:tcPr anchor="ctr"/>
                </a:tc>
                <a:tc>
                  <a:txBody>
                    <a:bodyPr/>
                    <a:lstStyle/>
                    <a:p>
                      <a:pPr marL="285750" indent="-285750" algn="l">
                        <a:buFont typeface="Arial" panose="020B0604020202020204" pitchFamily="34" charset="0"/>
                        <a:buChar char="•"/>
                      </a:pPr>
                      <a:r>
                        <a:rPr lang="en-IN" dirty="0"/>
                        <a:t>Real-world testing </a:t>
                      </a:r>
                    </a:p>
                    <a:p>
                      <a:pPr marL="285750" indent="-285750" algn="l">
                        <a:buFont typeface="Arial" panose="020B0604020202020204" pitchFamily="34" charset="0"/>
                        <a:buChar char="•"/>
                      </a:pPr>
                      <a:r>
                        <a:rPr lang="en-IN" dirty="0"/>
                        <a:t>Urban navigation scenarios </a:t>
                      </a:r>
                    </a:p>
                    <a:p>
                      <a:pPr marL="285750" indent="-285750" algn="l">
                        <a:buFont typeface="Arial" panose="020B0604020202020204" pitchFamily="34" charset="0"/>
                        <a:buChar char="•"/>
                      </a:pPr>
                      <a:r>
                        <a:rPr lang="en-IN" dirty="0"/>
                        <a:t>Performance evaluation</a:t>
                      </a:r>
                      <a:endParaRPr lang="en-IN" b="1" dirty="0"/>
                    </a:p>
                  </a:txBody>
                  <a:tcPr anchor="ctr"/>
                </a:tc>
                <a:extLst>
                  <a:ext uri="{0D108BD9-81ED-4DB2-BD59-A6C34878D82A}">
                    <a16:rowId xmlns:a16="http://schemas.microsoft.com/office/drawing/2014/main" val="557736531"/>
                  </a:ext>
                </a:extLst>
              </a:tr>
            </a:tbl>
          </a:graphicData>
        </a:graphic>
      </p:graphicFrame>
    </p:spTree>
    <p:extLst>
      <p:ext uri="{BB962C8B-B14F-4D97-AF65-F5344CB8AC3E}">
        <p14:creationId xmlns:p14="http://schemas.microsoft.com/office/powerpoint/2010/main" val="34163797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057832" y="398655"/>
            <a:ext cx="7067271" cy="1044524"/>
          </a:xfrm>
        </p:spPr>
        <p:txBody>
          <a:bodyPr>
            <a:normAutofit/>
          </a:bodyPr>
          <a:lstStyle/>
          <a:p>
            <a:r>
              <a:rPr lang="en-US" sz="4000" b="1" dirty="0">
                <a:latin typeface="Times New Roman" pitchFamily="18" charset="0"/>
                <a:cs typeface="Times New Roman" pitchFamily="18" charset="0"/>
              </a:rPr>
              <a:t>Proposed method</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01070" y="1698031"/>
            <a:ext cx="11676298" cy="4506124"/>
          </a:xfrm>
        </p:spPr>
        <p:txBody>
          <a:bodyPr>
            <a:normAutofit/>
          </a:bodyPr>
          <a:lstStyle/>
          <a:p>
            <a:pPr marL="0" indent="0">
              <a:buNone/>
            </a:pPr>
            <a:r>
              <a:rPr lang="en-IN" sz="2400" b="1" dirty="0"/>
              <a:t>AI-Based Assistive Navigation System for Visually Impaired People</a:t>
            </a:r>
          </a:p>
          <a:p>
            <a:pPr marL="0" indent="0">
              <a:buNone/>
            </a:pPr>
            <a:r>
              <a:rPr lang="en-IN" sz="2400" dirty="0"/>
              <a:t>The proposed system combines Computer Vision, Deep Learning, OCR, and Depth Estimation to provide real-time navigation assistance for visually impaired users.</a:t>
            </a:r>
          </a:p>
          <a:p>
            <a:pPr marL="0" indent="0">
              <a:buNone/>
            </a:pPr>
            <a:r>
              <a:rPr lang="en-IN" sz="2400" b="1" dirty="0"/>
              <a:t>The system performs:</a:t>
            </a:r>
          </a:p>
          <a:p>
            <a:r>
              <a:rPr lang="en-IN" sz="2400" dirty="0"/>
              <a:t>Real-time object and obstacle detection using YOLOv8 </a:t>
            </a:r>
          </a:p>
          <a:p>
            <a:r>
              <a:rPr lang="en-IN" sz="2400" dirty="0"/>
              <a:t>Scene text recognition using OCR </a:t>
            </a:r>
          </a:p>
          <a:p>
            <a:r>
              <a:rPr lang="en-IN" sz="2400" dirty="0"/>
              <a:t>Distance estimation using </a:t>
            </a:r>
            <a:r>
              <a:rPr lang="en-IN" sz="2400" dirty="0" err="1"/>
              <a:t>MiDaS</a:t>
            </a:r>
            <a:r>
              <a:rPr lang="en-IN" sz="2400" dirty="0"/>
              <a:t> depth estimation </a:t>
            </a:r>
          </a:p>
          <a:p>
            <a:r>
              <a:rPr lang="en-IN" sz="2400" dirty="0"/>
              <a:t>Audio feedback using Text-to-Speech (TTS) </a:t>
            </a:r>
          </a:p>
          <a:p>
            <a:r>
              <a:rPr lang="en-IN" sz="2400" dirty="0"/>
              <a:t>Hazard prioritization based on obstacle proximity </a:t>
            </a:r>
          </a:p>
          <a:p>
            <a:r>
              <a:rPr lang="en-IN" sz="2400" dirty="0"/>
              <a:t>Safe navigation guidance in indoor and outdoor environments </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565145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028336" y="408487"/>
            <a:ext cx="7067271" cy="1044524"/>
          </a:xfrm>
        </p:spPr>
        <p:txBody>
          <a:bodyPr>
            <a:normAutofit/>
          </a:bodyPr>
          <a:lstStyle/>
          <a:p>
            <a:r>
              <a:rPr lang="en-US" sz="4000" b="1" dirty="0">
                <a:latin typeface="Times New Roman" pitchFamily="18" charset="0"/>
                <a:cs typeface="Times New Roman" pitchFamily="18" charset="0"/>
              </a:rPr>
              <a:t>Proposed method (</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434839"/>
          </a:xfrm>
        </p:spPr>
        <p:txBody>
          <a:bodyPr>
            <a:normAutofit fontScale="85000" lnSpcReduction="20000"/>
          </a:bodyPr>
          <a:lstStyle/>
          <a:p>
            <a:pPr marL="0" indent="0">
              <a:buNone/>
            </a:pPr>
            <a:r>
              <a:rPr lang="en-IN" sz="2400" b="1" dirty="0"/>
              <a:t>Working Principle</a:t>
            </a:r>
          </a:p>
          <a:p>
            <a:r>
              <a:rPr lang="en-IN" sz="2400" dirty="0"/>
              <a:t>Capture live video using a camera. </a:t>
            </a:r>
          </a:p>
          <a:p>
            <a:r>
              <a:rPr lang="en-IN" sz="2400" dirty="0"/>
              <a:t>Detect objects and obstacles using YOLOv8. </a:t>
            </a:r>
          </a:p>
          <a:p>
            <a:r>
              <a:rPr lang="en-IN" sz="2400" dirty="0"/>
              <a:t>Estimate obstacle distance using </a:t>
            </a:r>
            <a:r>
              <a:rPr lang="en-IN" sz="2400" dirty="0" err="1"/>
              <a:t>MiDaS</a:t>
            </a:r>
            <a:r>
              <a:rPr lang="en-IN" sz="2400" dirty="0"/>
              <a:t>. </a:t>
            </a:r>
          </a:p>
          <a:p>
            <a:r>
              <a:rPr lang="en-IN" sz="2400" dirty="0"/>
              <a:t>Extract useful text from surroundings using OCR. </a:t>
            </a:r>
          </a:p>
          <a:p>
            <a:r>
              <a:rPr lang="en-IN" sz="2400" dirty="0"/>
              <a:t>Prioritize critical hazards based on distance. </a:t>
            </a:r>
          </a:p>
          <a:p>
            <a:r>
              <a:rPr lang="en-IN" sz="2400" dirty="0"/>
              <a:t>Convert information into speech using TTS. </a:t>
            </a:r>
          </a:p>
          <a:p>
            <a:r>
              <a:rPr lang="en-IN" sz="2400" dirty="0"/>
              <a:t>Deliver real-time audio alerts to the user. </a:t>
            </a:r>
          </a:p>
          <a:p>
            <a:pPr marL="0" indent="0">
              <a:buNone/>
            </a:pPr>
            <a:r>
              <a:rPr lang="en-IN" sz="2400" b="1" dirty="0"/>
              <a:t>Expected Output</a:t>
            </a:r>
          </a:p>
          <a:p>
            <a:r>
              <a:rPr lang="en-IN" sz="2400" dirty="0"/>
              <a:t>Obstacle warnings </a:t>
            </a:r>
          </a:p>
          <a:p>
            <a:r>
              <a:rPr lang="en-IN" sz="2400" dirty="0"/>
              <a:t>Object identification </a:t>
            </a:r>
          </a:p>
          <a:p>
            <a:r>
              <a:rPr lang="en-IN" sz="2400" dirty="0"/>
              <a:t>Text reading assistance </a:t>
            </a:r>
          </a:p>
          <a:p>
            <a:r>
              <a:rPr lang="en-IN" sz="2400" dirty="0"/>
              <a:t>Navigation guidance</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390392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59510" y="477313"/>
            <a:ext cx="7067271" cy="1044524"/>
          </a:xfrm>
        </p:spPr>
        <p:txBody>
          <a:bodyPr>
            <a:normAutofit/>
          </a:bodyPr>
          <a:lstStyle/>
          <a:p>
            <a:r>
              <a:rPr lang="en-US" sz="4000" b="1" dirty="0">
                <a:latin typeface="Times New Roman" pitchFamily="18" charset="0"/>
                <a:cs typeface="Times New Roman" pitchFamily="18" charset="0"/>
              </a:rPr>
              <a:t>Architecture</a:t>
            </a:r>
          </a:p>
        </p:txBody>
      </p:sp>
      <p:pic>
        <p:nvPicPr>
          <p:cNvPr id="2" name="Content Placeholder 1">
            <a:extLst>
              <a:ext uri="{FF2B5EF4-FFF2-40B4-BE49-F238E27FC236}">
                <a16:creationId xmlns:a16="http://schemas.microsoft.com/office/drawing/2014/main" id="{683DC8B8-E975-D3B8-8EB4-799CE175CABC}"/>
              </a:ext>
            </a:extLst>
          </p:cNvPr>
          <p:cNvPicPr>
            <a:picLocks noGrp="1" noChangeAspect="1"/>
          </p:cNvPicPr>
          <p:nvPr>
            <p:ph sz="half" idx="1"/>
          </p:nvPr>
        </p:nvPicPr>
        <p:blipFill>
          <a:blip r:embed="rId2"/>
          <a:stretch>
            <a:fillRect/>
          </a:stretch>
        </p:blipFill>
        <p:spPr>
          <a:xfrm>
            <a:off x="3300574" y="1521837"/>
            <a:ext cx="5590852" cy="4435475"/>
          </a:xfrm>
          <a:prstGeom prst="rect">
            <a:avLst/>
          </a:prstGeom>
        </p:spPr>
      </p:pic>
    </p:spTree>
    <p:extLst>
      <p:ext uri="{BB962C8B-B14F-4D97-AF65-F5344CB8AC3E}">
        <p14:creationId xmlns:p14="http://schemas.microsoft.com/office/powerpoint/2010/main" val="3645407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164AB2-A4DB-9C92-EBC2-389CB0F693DB}"/>
              </a:ext>
            </a:extLst>
          </p:cNvPr>
          <p:cNvSpPr>
            <a:spLocks noGrp="1"/>
          </p:cNvSpPr>
          <p:nvPr>
            <p:ph type="title"/>
          </p:nvPr>
        </p:nvSpPr>
        <p:spPr>
          <a:xfrm>
            <a:off x="3178276" y="286467"/>
            <a:ext cx="10515600" cy="1325563"/>
          </a:xfrm>
        </p:spPr>
        <p:txBody>
          <a:bodyPr/>
          <a:lstStyle/>
          <a:p>
            <a:r>
              <a:rPr lang="en-US" b="1" dirty="0">
                <a:latin typeface="Times New Roman" pitchFamily="18" charset="0"/>
                <a:cs typeface="Times New Roman" pitchFamily="18" charset="0"/>
              </a:rPr>
              <a:t>Architecture(</a:t>
            </a:r>
            <a:r>
              <a:rPr lang="en-US" b="1" dirty="0" err="1">
                <a:latin typeface="Times New Roman" pitchFamily="18" charset="0"/>
                <a:cs typeface="Times New Roman" pitchFamily="18" charset="0"/>
              </a:rPr>
              <a:t>Cont</a:t>
            </a:r>
            <a:r>
              <a:rPr lang="en-US" b="1" dirty="0">
                <a:latin typeface="Times New Roman" pitchFamily="18" charset="0"/>
                <a:cs typeface="Times New Roman" pitchFamily="18" charset="0"/>
              </a:rPr>
              <a:t>…)</a:t>
            </a:r>
            <a:endParaRPr lang="en-IN" dirty="0"/>
          </a:p>
        </p:txBody>
      </p:sp>
      <p:sp>
        <p:nvSpPr>
          <p:cNvPr id="5" name="Rectangle 2">
            <a:extLst>
              <a:ext uri="{FF2B5EF4-FFF2-40B4-BE49-F238E27FC236}">
                <a16:creationId xmlns:a16="http://schemas.microsoft.com/office/drawing/2014/main" id="{6C09D88C-5C9F-D642-2AB1-483C64D2634A}"/>
              </a:ext>
            </a:extLst>
          </p:cNvPr>
          <p:cNvSpPr>
            <a:spLocks noGrp="1" noChangeArrowheads="1"/>
          </p:cNvSpPr>
          <p:nvPr>
            <p:ph sz="half" idx="1"/>
          </p:nvPr>
        </p:nvSpPr>
        <p:spPr bwMode="auto">
          <a:xfrm rot="10800000" flipV="1">
            <a:off x="403120" y="1817950"/>
            <a:ext cx="11975691"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Camera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Captures live video feed of the surroundings.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Provides visual data for object detection and scene analysis.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Ultrasonic Sensor</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Detects nearby obstacles.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Measures distance between the user and obstacles.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GPS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Tracks the user's current location.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Supports navigation and route guidance.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Microcontroller (Arduino/Raspberry Pi)</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Interfaces with sensors and AI modules.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Controls data collection and communication.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01812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594CE-26A0-9543-1367-EDBA4CC21E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4253B9-E8D8-878D-450B-CCB1F93404FE}"/>
              </a:ext>
            </a:extLst>
          </p:cNvPr>
          <p:cNvSpPr>
            <a:spLocks noGrp="1"/>
          </p:cNvSpPr>
          <p:nvPr>
            <p:ph type="title"/>
          </p:nvPr>
        </p:nvSpPr>
        <p:spPr>
          <a:xfrm>
            <a:off x="3227438" y="296299"/>
            <a:ext cx="10515600" cy="1325563"/>
          </a:xfrm>
        </p:spPr>
        <p:txBody>
          <a:bodyPr/>
          <a:lstStyle/>
          <a:p>
            <a:r>
              <a:rPr lang="en-US" b="1" dirty="0">
                <a:latin typeface="Times New Roman" pitchFamily="18" charset="0"/>
                <a:cs typeface="Times New Roman" pitchFamily="18" charset="0"/>
              </a:rPr>
              <a:t>Architecture(</a:t>
            </a:r>
            <a:r>
              <a:rPr lang="en-US" b="1" dirty="0" err="1">
                <a:latin typeface="Times New Roman" pitchFamily="18" charset="0"/>
                <a:cs typeface="Times New Roman" pitchFamily="18" charset="0"/>
              </a:rPr>
              <a:t>Cont</a:t>
            </a:r>
            <a:r>
              <a:rPr lang="en-US" b="1" dirty="0">
                <a:latin typeface="Times New Roman" pitchFamily="18" charset="0"/>
                <a:cs typeface="Times New Roman" pitchFamily="18" charset="0"/>
              </a:rPr>
              <a:t>…)</a:t>
            </a:r>
            <a:endParaRPr lang="en-IN" dirty="0"/>
          </a:p>
        </p:txBody>
      </p:sp>
      <p:sp>
        <p:nvSpPr>
          <p:cNvPr id="5" name="Rectangle 2">
            <a:extLst>
              <a:ext uri="{FF2B5EF4-FFF2-40B4-BE49-F238E27FC236}">
                <a16:creationId xmlns:a16="http://schemas.microsoft.com/office/drawing/2014/main" id="{26428CE9-425A-58A6-8144-E2D8832145F1}"/>
              </a:ext>
            </a:extLst>
          </p:cNvPr>
          <p:cNvSpPr>
            <a:spLocks noGrp="1" noChangeArrowheads="1"/>
          </p:cNvSpPr>
          <p:nvPr>
            <p:ph sz="half" idx="1"/>
          </p:nvPr>
        </p:nvSpPr>
        <p:spPr bwMode="auto">
          <a:xfrm rot="10800000" flipV="1">
            <a:off x="216308" y="3815934"/>
            <a:ext cx="1197569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A430F92D-97CC-4E2B-8D4B-E0E7D551AB76}"/>
              </a:ext>
            </a:extLst>
          </p:cNvPr>
          <p:cNvSpPr>
            <a:spLocks noChangeArrowheads="1"/>
          </p:cNvSpPr>
          <p:nvPr/>
        </p:nvSpPr>
        <p:spPr bwMode="auto">
          <a:xfrm rot="10800000" flipV="1">
            <a:off x="363794" y="1735201"/>
            <a:ext cx="10609008"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spcBef>
                <a:spcPct val="0"/>
              </a:spcBef>
              <a:spcAft>
                <a:spcPct val="0"/>
              </a:spcAft>
            </a:pPr>
            <a:r>
              <a:rPr lang="en-US" altLang="en-US" b="1" dirty="0">
                <a:latin typeface="Arial" panose="020B0604020202020204" pitchFamily="34" charset="0"/>
              </a:rPr>
              <a:t>YOLOv8 Object Detection</a:t>
            </a:r>
            <a:r>
              <a:rPr lang="en-US" altLang="en-US" dirty="0">
                <a:latin typeface="Arial" panose="020B0604020202020204" pitchFamily="34" charset="0"/>
              </a:rPr>
              <a:t> </a:t>
            </a:r>
          </a:p>
          <a:p>
            <a:pPr lvl="0" eaLnBrk="0" fontAlgn="base" hangingPunct="0">
              <a:spcBef>
                <a:spcPct val="0"/>
              </a:spcBef>
              <a:spcAft>
                <a:spcPct val="0"/>
              </a:spcAft>
              <a:buFontTx/>
              <a:buChar char="•"/>
            </a:pPr>
            <a:r>
              <a:rPr lang="en-US" altLang="en-US" dirty="0">
                <a:latin typeface="Arial" panose="020B0604020202020204" pitchFamily="34" charset="0"/>
              </a:rPr>
              <a:t>Identifies objects such as pedestrians, vehicles, poles, and obstacles. </a:t>
            </a:r>
          </a:p>
          <a:p>
            <a:pPr lvl="0" eaLnBrk="0" fontAlgn="base" hangingPunct="0">
              <a:spcBef>
                <a:spcPct val="0"/>
              </a:spcBef>
              <a:spcAft>
                <a:spcPct val="0"/>
              </a:spcAft>
              <a:buFontTx/>
              <a:buChar char="•"/>
            </a:pPr>
            <a:r>
              <a:rPr lang="en-US" altLang="en-US" dirty="0">
                <a:latin typeface="Arial" panose="020B0604020202020204" pitchFamily="34" charset="0"/>
              </a:rPr>
              <a:t>Enables real-time environmental awareness.</a:t>
            </a:r>
          </a:p>
          <a:p>
            <a:pPr lvl="0" eaLnBrk="0" fontAlgn="base" hangingPunct="0">
              <a:spcBef>
                <a:spcPct val="0"/>
              </a:spcBef>
              <a:spcAft>
                <a:spcPct val="0"/>
              </a:spcAft>
            </a:pPr>
            <a:endParaRPr lang="en-US" altLang="en-US"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Depth Estimator</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Calculates the distance of detected objects.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Helps determine obstacle proximity and collision risk.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OCR Engine (EasyOCR/Tesseract)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Extracts text from signs, boards, and labels.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Converts visual text into readable information.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1800" b="1" i="0" u="none" strike="noStrike" cap="none" normalizeH="0" baseline="0" dirty="0">
                <a:ln>
                  <a:noFill/>
                </a:ln>
                <a:solidFill>
                  <a:schemeClr val="tx1"/>
                </a:solidFill>
                <a:effectLst/>
                <a:latin typeface="Arial" panose="020B0604020202020204" pitchFamily="34" charset="0"/>
              </a:rPr>
              <a:t>Sensor Fusion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Combines data from camera, ultrasonic sensor, and GPS.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Improves accuracy and reduces sensor uncertainty.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337899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B34265-38A9-57DA-4286-EF0EF3354D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9A9A47-808F-BD35-65D7-2E384CF35536}"/>
              </a:ext>
            </a:extLst>
          </p:cNvPr>
          <p:cNvSpPr>
            <a:spLocks noGrp="1"/>
          </p:cNvSpPr>
          <p:nvPr>
            <p:ph type="title"/>
          </p:nvPr>
        </p:nvSpPr>
        <p:spPr>
          <a:xfrm>
            <a:off x="3109450" y="355293"/>
            <a:ext cx="10515600" cy="1325563"/>
          </a:xfrm>
        </p:spPr>
        <p:txBody>
          <a:bodyPr/>
          <a:lstStyle/>
          <a:p>
            <a:r>
              <a:rPr lang="en-US" b="1" dirty="0">
                <a:latin typeface="Times New Roman" pitchFamily="18" charset="0"/>
                <a:cs typeface="Times New Roman" pitchFamily="18" charset="0"/>
              </a:rPr>
              <a:t>Architecture(</a:t>
            </a:r>
            <a:r>
              <a:rPr lang="en-US" b="1" dirty="0" err="1">
                <a:latin typeface="Times New Roman" pitchFamily="18" charset="0"/>
                <a:cs typeface="Times New Roman" pitchFamily="18" charset="0"/>
              </a:rPr>
              <a:t>Cont</a:t>
            </a:r>
            <a:r>
              <a:rPr lang="en-US" b="1" dirty="0">
                <a:latin typeface="Times New Roman" pitchFamily="18" charset="0"/>
                <a:cs typeface="Times New Roman" pitchFamily="18" charset="0"/>
              </a:rPr>
              <a:t>…)</a:t>
            </a:r>
            <a:endParaRPr lang="en-IN" dirty="0"/>
          </a:p>
        </p:txBody>
      </p:sp>
      <p:sp>
        <p:nvSpPr>
          <p:cNvPr id="4" name="Rectangle 2">
            <a:extLst>
              <a:ext uri="{FF2B5EF4-FFF2-40B4-BE49-F238E27FC236}">
                <a16:creationId xmlns:a16="http://schemas.microsoft.com/office/drawing/2014/main" id="{05E23D81-E8B6-C628-6AEC-27D822C8EFD7}"/>
              </a:ext>
            </a:extLst>
          </p:cNvPr>
          <p:cNvSpPr>
            <a:spLocks noGrp="1" noChangeArrowheads="1"/>
          </p:cNvSpPr>
          <p:nvPr>
            <p:ph sz="half" idx="1"/>
          </p:nvPr>
        </p:nvSpPr>
        <p:spPr bwMode="auto">
          <a:xfrm>
            <a:off x="446491" y="1680856"/>
            <a:ext cx="9130127"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Decision Engine</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Processes outputs from all AI modules.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Prioritizes alerts based on obstacle severity and distance.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Generates appropriate navigation instructions. </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None/>
            </a:pPr>
            <a:r>
              <a:rPr lang="en-US" altLang="en-US" sz="1800" b="1" dirty="0">
                <a:latin typeface="Arial" panose="020B0604020202020204" pitchFamily="34" charset="0"/>
              </a:rPr>
              <a:t>Text-to-Speech (TTS) Engine</a:t>
            </a:r>
            <a:r>
              <a:rPr lang="en-US" altLang="en-US" sz="1800" dirty="0">
                <a:latin typeface="Arial" panose="020B0604020202020204" pitchFamily="34" charset="0"/>
              </a:rPr>
              <a:t>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Converts alerts and notifications into speech. </a:t>
            </a:r>
          </a:p>
          <a:p>
            <a:pPr marL="0" lvl="0" indent="0" eaLnBrk="0" fontAlgn="base" hangingPunct="0">
              <a:lnSpc>
                <a:spcPct val="100000"/>
              </a:lnSpc>
              <a:spcBef>
                <a:spcPct val="0"/>
              </a:spcBef>
              <a:spcAft>
                <a:spcPct val="0"/>
              </a:spcAft>
              <a:buFontTx/>
              <a:buChar char="•"/>
            </a:pPr>
            <a:r>
              <a:rPr lang="en-US" altLang="en-US" sz="1800" dirty="0">
                <a:latin typeface="Arial" panose="020B0604020202020204" pitchFamily="34" charset="0"/>
              </a:rPr>
              <a:t>Provides hands-free interaction. </a:t>
            </a:r>
          </a:p>
          <a:p>
            <a:pPr marL="0" lv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Voice Navigation Module</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Generates GPS-based navigation guidance.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Directs users through voice commands.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Audio Output</a:t>
            </a:r>
            <a:r>
              <a:rPr kumimoji="0" lang="en-US" altLang="en-US" sz="18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Delivers alerts and navigation instructions through earphones or speakers.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Enables safe and independent navigation for users.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3271358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146323" y="447816"/>
            <a:ext cx="7067271" cy="1044524"/>
          </a:xfrm>
        </p:spPr>
        <p:txBody>
          <a:bodyPr>
            <a:normAutofit fontScale="90000"/>
          </a:bodyPr>
          <a:lstStyle/>
          <a:p>
            <a:r>
              <a:rPr lang="en-US" sz="4000" b="1" dirty="0">
                <a:latin typeface="Times New Roman" pitchFamily="18" charset="0"/>
                <a:cs typeface="Times New Roman" pitchFamily="18" charset="0"/>
              </a:rPr>
              <a:t>Hardware/Software requirements</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434839"/>
          </a:xfrm>
        </p:spPr>
        <p:txBody>
          <a:bodyPr>
            <a:normAutofit/>
          </a:bodyPr>
          <a:lstStyle/>
          <a:p>
            <a:pPr marL="0" indent="0">
              <a:buNone/>
            </a:pPr>
            <a:r>
              <a:rPr lang="en-US" sz="2000" b="1" dirty="0"/>
              <a:t>Software Requirements</a:t>
            </a:r>
          </a:p>
          <a:p>
            <a:pPr lvl="2"/>
            <a:r>
              <a:rPr lang="en-US" b="1" dirty="0"/>
              <a:t>Operating System: </a:t>
            </a:r>
            <a:r>
              <a:rPr lang="en-US" dirty="0"/>
              <a:t>Linux (Ubuntu 20.04+), Raspberry Pi OS, or Android.</a:t>
            </a:r>
            <a:endParaRPr lang="en-IN" sz="1800" dirty="0"/>
          </a:p>
          <a:p>
            <a:pPr lvl="2"/>
            <a:r>
              <a:rPr lang="en-US" b="1" dirty="0"/>
              <a:t>Programming Language: </a:t>
            </a:r>
            <a:r>
              <a:rPr lang="en-US" dirty="0"/>
              <a:t>Python 3.8+.</a:t>
            </a:r>
            <a:endParaRPr lang="en-IN" sz="1800" dirty="0"/>
          </a:p>
          <a:p>
            <a:pPr lvl="2"/>
            <a:r>
              <a:rPr lang="en-US" b="1" dirty="0"/>
              <a:t>IDE:</a:t>
            </a:r>
            <a:r>
              <a:rPr lang="en-US" dirty="0"/>
              <a:t> VS Code, </a:t>
            </a:r>
            <a:r>
              <a:rPr lang="en-US" dirty="0" err="1"/>
              <a:t>Jupyter</a:t>
            </a:r>
            <a:r>
              <a:rPr lang="en-US" dirty="0"/>
              <a:t> Notebook, Google </a:t>
            </a:r>
            <a:r>
              <a:rPr lang="en-US" dirty="0" err="1"/>
              <a:t>Colab</a:t>
            </a:r>
            <a:r>
              <a:rPr lang="en-US" dirty="0"/>
              <a:t> (for training).</a:t>
            </a:r>
            <a:endParaRPr lang="en-IN" sz="1800" dirty="0"/>
          </a:p>
          <a:p>
            <a:pPr lvl="2"/>
            <a:r>
              <a:rPr lang="en-US" b="1" dirty="0"/>
              <a:t>Deep Learning Framework:</a:t>
            </a:r>
            <a:r>
              <a:rPr lang="en-US" dirty="0"/>
              <a:t> </a:t>
            </a:r>
            <a:r>
              <a:rPr lang="en-US" dirty="0" err="1"/>
              <a:t>PyTorch</a:t>
            </a:r>
            <a:r>
              <a:rPr lang="en-US" dirty="0"/>
              <a:t>, </a:t>
            </a:r>
            <a:r>
              <a:rPr lang="en-US" dirty="0" err="1"/>
              <a:t>Ultralytics</a:t>
            </a:r>
            <a:r>
              <a:rPr lang="en-US" dirty="0"/>
              <a:t> YOLOv8.</a:t>
            </a:r>
            <a:endParaRPr lang="en-IN" sz="1800" dirty="0"/>
          </a:p>
          <a:p>
            <a:pPr lvl="2"/>
            <a:r>
              <a:rPr lang="en-US" b="1" dirty="0"/>
              <a:t>OCR Library:</a:t>
            </a:r>
            <a:r>
              <a:rPr lang="en-US" dirty="0"/>
              <a:t> EasyOCR / Tesseract OCR.</a:t>
            </a:r>
            <a:endParaRPr lang="en-IN" sz="1800" dirty="0"/>
          </a:p>
          <a:p>
            <a:pPr lvl="2"/>
            <a:r>
              <a:rPr lang="en-US" b="1" dirty="0"/>
              <a:t>Computer Vision: </a:t>
            </a:r>
            <a:r>
              <a:rPr lang="en-US" dirty="0"/>
              <a:t>OpenCV 4.5+.</a:t>
            </a:r>
            <a:endParaRPr lang="en-IN" sz="1800" dirty="0"/>
          </a:p>
          <a:p>
            <a:pPr lvl="2"/>
            <a:r>
              <a:rPr lang="en-US" b="1" dirty="0"/>
              <a:t>TTS Library: </a:t>
            </a:r>
            <a:r>
              <a:rPr lang="en-US" dirty="0"/>
              <a:t>pyttsx3, </a:t>
            </a:r>
            <a:r>
              <a:rPr lang="en-US" dirty="0" err="1"/>
              <a:t>gTTS</a:t>
            </a:r>
            <a:r>
              <a:rPr lang="en-US" dirty="0"/>
              <a:t>, or Coqui TTS.</a:t>
            </a:r>
            <a:endParaRPr lang="en-IN" sz="1800" dirty="0"/>
          </a:p>
          <a:p>
            <a:pPr lvl="2"/>
            <a:r>
              <a:rPr lang="en-US" b="1" dirty="0"/>
              <a:t>Depth Estimation: </a:t>
            </a:r>
            <a:r>
              <a:rPr lang="en-US" dirty="0" err="1"/>
              <a:t>MiDaS</a:t>
            </a:r>
            <a:r>
              <a:rPr lang="en-US" dirty="0"/>
              <a:t> (Monocular Depth Estimation).</a:t>
            </a:r>
            <a:endParaRPr lang="en-IN" sz="1800" dirty="0"/>
          </a:p>
          <a:p>
            <a:pPr lvl="2"/>
            <a:r>
              <a:rPr lang="en-US" b="1" dirty="0"/>
              <a:t>Deployment:</a:t>
            </a:r>
            <a:r>
              <a:rPr lang="en-US" dirty="0"/>
              <a:t> Flask (API), or direct embedded Python on Raspberry Pi.</a:t>
            </a:r>
            <a:endParaRPr lang="en-IN" sz="1800" dirty="0"/>
          </a:p>
          <a:p>
            <a:pPr lvl="2"/>
            <a:r>
              <a:rPr lang="en-US" b="1" dirty="0"/>
              <a:t>Package Manager:</a:t>
            </a:r>
            <a:r>
              <a:rPr lang="en-US" dirty="0"/>
              <a:t> pip / </a:t>
            </a:r>
            <a:r>
              <a:rPr lang="en-US" dirty="0" err="1"/>
              <a:t>conda</a:t>
            </a:r>
            <a:r>
              <a:rPr lang="en-US" dirty="0"/>
              <a:t>.</a:t>
            </a:r>
            <a:endParaRPr lang="en-IN" sz="1800" dirty="0"/>
          </a:p>
          <a:p>
            <a:pPr marL="0" indent="0">
              <a:buNone/>
            </a:pPr>
            <a:endParaRPr lang="en-IN" sz="2000" dirty="0"/>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6879578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43149-DEC3-A87A-6898-FB398203B10B}"/>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23821BCB-42F7-F90C-843B-96F78CDA574A}"/>
              </a:ext>
            </a:extLst>
          </p:cNvPr>
          <p:cNvSpPr>
            <a:spLocks noGrp="1"/>
          </p:cNvSpPr>
          <p:nvPr>
            <p:ph type="title"/>
          </p:nvPr>
        </p:nvSpPr>
        <p:spPr>
          <a:xfrm>
            <a:off x="2743200" y="447816"/>
            <a:ext cx="8731045" cy="1044524"/>
          </a:xfrm>
        </p:spPr>
        <p:txBody>
          <a:bodyPr>
            <a:normAutofit fontScale="90000"/>
          </a:bodyPr>
          <a:lstStyle/>
          <a:p>
            <a:r>
              <a:rPr lang="en-US" sz="4000" b="1" dirty="0">
                <a:latin typeface="Times New Roman" pitchFamily="18" charset="0"/>
                <a:cs typeface="Times New Roman" pitchFamily="18" charset="0"/>
              </a:rPr>
              <a:t>Hardware/Software requirements(</a:t>
            </a:r>
            <a:r>
              <a:rPr lang="en-US" sz="4000" b="1" dirty="0" err="1">
                <a:latin typeface="Times New Roman" pitchFamily="18" charset="0"/>
                <a:cs typeface="Times New Roman" pitchFamily="18" charset="0"/>
              </a:rPr>
              <a:t>Cont</a:t>
            </a:r>
            <a:r>
              <a:rPr lang="en-US" sz="4000" b="1" dirty="0">
                <a:latin typeface="Times New Roman" pitchFamily="18" charset="0"/>
                <a:cs typeface="Times New Roman" pitchFamily="18" charset="0"/>
              </a:rPr>
              <a:t>…)</a:t>
            </a:r>
          </a:p>
        </p:txBody>
      </p:sp>
      <p:sp>
        <p:nvSpPr>
          <p:cNvPr id="5" name="Content Placeholder 4">
            <a:extLst>
              <a:ext uri="{FF2B5EF4-FFF2-40B4-BE49-F238E27FC236}">
                <a16:creationId xmlns:a16="http://schemas.microsoft.com/office/drawing/2014/main" id="{D9076483-6471-3086-AE34-20DCBBC4EE3A}"/>
              </a:ext>
            </a:extLst>
          </p:cNvPr>
          <p:cNvSpPr>
            <a:spLocks noGrp="1"/>
          </p:cNvSpPr>
          <p:nvPr>
            <p:ph sz="half" idx="1"/>
          </p:nvPr>
        </p:nvSpPr>
        <p:spPr>
          <a:xfrm>
            <a:off x="289560" y="1737360"/>
            <a:ext cx="10500360" cy="4434839"/>
          </a:xfrm>
        </p:spPr>
        <p:txBody>
          <a:bodyPr>
            <a:normAutofit/>
          </a:bodyPr>
          <a:lstStyle/>
          <a:p>
            <a:pPr marL="0" indent="0">
              <a:buNone/>
            </a:pPr>
            <a:r>
              <a:rPr lang="en-US" sz="2000" b="1" dirty="0"/>
              <a:t>Hardware Requirements</a:t>
            </a:r>
          </a:p>
          <a:p>
            <a:pPr lvl="2"/>
            <a:r>
              <a:rPr lang="en-US" b="1" dirty="0"/>
              <a:t>Camera Module:</a:t>
            </a:r>
            <a:r>
              <a:rPr lang="en-US" dirty="0"/>
              <a:t> Raspberry Pi Camera v2 or USB webcam / smartphone camera.</a:t>
            </a:r>
            <a:endParaRPr lang="en-IN" sz="1800" dirty="0"/>
          </a:p>
          <a:p>
            <a:pPr lvl="2"/>
            <a:r>
              <a:rPr lang="en-US" b="1" dirty="0"/>
              <a:t>Processor: </a:t>
            </a:r>
            <a:r>
              <a:rPr lang="en-US" dirty="0"/>
              <a:t>Raspberry Pi 4B (ARM Cortex-A72) or Intel i5+ for PC deployment.</a:t>
            </a:r>
            <a:endParaRPr lang="en-IN" sz="1800" dirty="0"/>
          </a:p>
          <a:p>
            <a:pPr lvl="2"/>
            <a:r>
              <a:rPr lang="en-US" b="1" dirty="0"/>
              <a:t>RAM: </a:t>
            </a:r>
            <a:r>
              <a:rPr lang="en-US" dirty="0"/>
              <a:t>Minimum 4 GB (8 GB recommended for smooth inference).</a:t>
            </a:r>
            <a:endParaRPr lang="en-IN" sz="1800" dirty="0"/>
          </a:p>
          <a:p>
            <a:pPr lvl="2"/>
            <a:r>
              <a:rPr lang="en-US" b="1" dirty="0"/>
              <a:t>GPU: </a:t>
            </a:r>
            <a:r>
              <a:rPr lang="en-US" dirty="0"/>
              <a:t>Optional — NVIDIA GPU with CUDA for accelerated training.</a:t>
            </a:r>
            <a:endParaRPr lang="en-IN" sz="1800" dirty="0"/>
          </a:p>
          <a:p>
            <a:pPr lvl="2"/>
            <a:r>
              <a:rPr lang="en-US" b="1" dirty="0"/>
              <a:t>Storage</a:t>
            </a:r>
            <a:r>
              <a:rPr lang="en-US" dirty="0"/>
              <a:t>: 32 GB microSD card or 20 GB SSD.</a:t>
            </a:r>
            <a:endParaRPr lang="en-IN" sz="1800" dirty="0"/>
          </a:p>
          <a:p>
            <a:pPr lvl="2"/>
            <a:r>
              <a:rPr lang="en-US" b="1" dirty="0"/>
              <a:t>Audio Output:</a:t>
            </a:r>
            <a:r>
              <a:rPr lang="en-US" dirty="0"/>
              <a:t> 3.5mm earphones or Bluetooth headset.</a:t>
            </a:r>
            <a:endParaRPr lang="en-IN" sz="1800" dirty="0"/>
          </a:p>
          <a:p>
            <a:pPr lvl="2"/>
            <a:r>
              <a:rPr lang="en-US" b="1" dirty="0"/>
              <a:t>Battery</a:t>
            </a:r>
            <a:r>
              <a:rPr lang="en-US" dirty="0"/>
              <a:t>: Portable power bank (10,000 </a:t>
            </a:r>
            <a:r>
              <a:rPr lang="en-US" dirty="0" err="1"/>
              <a:t>mAh</a:t>
            </a:r>
            <a:r>
              <a:rPr lang="en-US" dirty="0"/>
              <a:t>) for mobile deployment</a:t>
            </a:r>
            <a:endParaRPr lang="en-IN" sz="1800" dirty="0"/>
          </a:p>
          <a:p>
            <a:pPr marL="0" indent="0">
              <a:buNone/>
            </a:pPr>
            <a:endParaRPr lang="en-IN" sz="2000" dirty="0"/>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41185657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106993" y="437983"/>
            <a:ext cx="7067271" cy="1044524"/>
          </a:xfrm>
        </p:spPr>
        <p:txBody>
          <a:bodyPr>
            <a:normAutofit/>
          </a:bodyPr>
          <a:lstStyle/>
          <a:p>
            <a:r>
              <a:rPr lang="en-US" sz="4000" b="1" dirty="0">
                <a:latin typeface="Times New Roman" pitchFamily="18" charset="0"/>
                <a:cs typeface="Times New Roman" pitchFamily="18" charset="0"/>
              </a:rPr>
              <a:t>Algorithms</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397969"/>
          </a:xfrm>
        </p:spPr>
        <p:txBody>
          <a:bodyPr>
            <a:normAutofit fontScale="92500" lnSpcReduction="20000"/>
          </a:bodyPr>
          <a:lstStyle/>
          <a:p>
            <a:pPr marL="0" indent="0">
              <a:buNone/>
            </a:pPr>
            <a:r>
              <a:rPr lang="en-IN" sz="2400" b="1" dirty="0"/>
              <a:t>YOLOv8 Object Detection</a:t>
            </a:r>
          </a:p>
          <a:p>
            <a:r>
              <a:rPr lang="en-IN" sz="2400" dirty="0"/>
              <a:t>Performs real-time object detection. </a:t>
            </a:r>
          </a:p>
          <a:p>
            <a:r>
              <a:rPr lang="en-IN" sz="2400" dirty="0"/>
              <a:t>Detects multiple objects simultaneously. </a:t>
            </a:r>
          </a:p>
          <a:p>
            <a:r>
              <a:rPr lang="en-IN" sz="2400" dirty="0"/>
              <a:t>Optimized for edge deployment. </a:t>
            </a:r>
          </a:p>
          <a:p>
            <a:pPr marL="0" indent="0">
              <a:buNone/>
            </a:pPr>
            <a:r>
              <a:rPr lang="en-IN" sz="2400" b="1" dirty="0" err="1"/>
              <a:t>MiDaS</a:t>
            </a:r>
            <a:r>
              <a:rPr lang="en-IN" sz="2400" b="1" dirty="0"/>
              <a:t> Depth Estimation</a:t>
            </a:r>
          </a:p>
          <a:p>
            <a:r>
              <a:rPr lang="en-IN" sz="2400" dirty="0"/>
              <a:t>Generates depth maps from single RGB images. </a:t>
            </a:r>
          </a:p>
          <a:p>
            <a:r>
              <a:rPr lang="en-IN" sz="2400" dirty="0"/>
              <a:t>Estimates distance to nearby obstacles. </a:t>
            </a:r>
          </a:p>
          <a:p>
            <a:pPr marL="0" indent="0">
              <a:buNone/>
            </a:pPr>
            <a:r>
              <a:rPr lang="en-IN" sz="2400" b="1" dirty="0"/>
              <a:t>OCR (EasyOCR)</a:t>
            </a:r>
          </a:p>
          <a:p>
            <a:r>
              <a:rPr lang="en-IN" sz="2400" dirty="0"/>
              <a:t>Detects and recognizes scene text. </a:t>
            </a:r>
          </a:p>
          <a:p>
            <a:r>
              <a:rPr lang="en-IN" sz="2400" dirty="0"/>
              <a:t>Supports multilingual text recognition. </a:t>
            </a:r>
          </a:p>
          <a:p>
            <a:pPr marL="0" indent="0">
              <a:buNone/>
            </a:pPr>
            <a:r>
              <a:rPr lang="en-IN" sz="2400" b="1" dirty="0"/>
              <a:t>Text-to-Speech (TTS)</a:t>
            </a:r>
          </a:p>
          <a:p>
            <a:r>
              <a:rPr lang="en-IN" sz="2400" dirty="0"/>
              <a:t>Converts detected information into speech.</a:t>
            </a:r>
          </a:p>
          <a:p>
            <a:pPr marL="0" indent="0">
              <a:buNone/>
            </a:pP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38110285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939845" y="467481"/>
            <a:ext cx="7067271" cy="1044524"/>
          </a:xfrm>
        </p:spPr>
        <p:txBody>
          <a:bodyPr>
            <a:normAutofit/>
          </a:bodyPr>
          <a:lstStyle/>
          <a:p>
            <a:r>
              <a:rPr lang="en-US" sz="4000" b="1" dirty="0">
                <a:latin typeface="Times New Roman" pitchFamily="18" charset="0"/>
                <a:cs typeface="Times New Roman" pitchFamily="18" charset="0"/>
              </a:rPr>
              <a:t>Implementation- Modules</a:t>
            </a:r>
          </a:p>
        </p:txBody>
      </p:sp>
      <p:sp>
        <p:nvSpPr>
          <p:cNvPr id="3" name="Content Placeholder 2">
            <a:extLst>
              <a:ext uri="{FF2B5EF4-FFF2-40B4-BE49-F238E27FC236}">
                <a16:creationId xmlns:a16="http://schemas.microsoft.com/office/drawing/2014/main" id="{54A872F0-ED29-B39E-C047-C0E13137A267}"/>
              </a:ext>
            </a:extLst>
          </p:cNvPr>
          <p:cNvSpPr>
            <a:spLocks noGrp="1"/>
          </p:cNvSpPr>
          <p:nvPr>
            <p:ph sz="half" idx="1"/>
          </p:nvPr>
        </p:nvSpPr>
        <p:spPr/>
        <p:txBody>
          <a:bodyPr/>
          <a:lstStyle/>
          <a:p>
            <a:endParaRPr lang="en-IN"/>
          </a:p>
        </p:txBody>
      </p:sp>
    </p:spTree>
    <p:extLst>
      <p:ext uri="{BB962C8B-B14F-4D97-AF65-F5344CB8AC3E}">
        <p14:creationId xmlns:p14="http://schemas.microsoft.com/office/powerpoint/2010/main" val="34105935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F93924A-10DF-4647-8C7A-115C017577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2536901" y="288767"/>
            <a:ext cx="4802249" cy="1069066"/>
          </a:xfrm>
        </p:spPr>
        <p:txBody>
          <a:bodyPr vert="horz" lIns="91440" tIns="45720" rIns="91440" bIns="45720" rtlCol="0" anchor="b">
            <a:normAutofit/>
          </a:bodyPr>
          <a:lstStyle/>
          <a:p>
            <a:r>
              <a:rPr lang="en-US" sz="4000" b="1" kern="1200" dirty="0">
                <a:solidFill>
                  <a:schemeClr val="tx1"/>
                </a:solidFill>
                <a:latin typeface="Times New Roman" panose="02020603050405020304" pitchFamily="18" charset="0"/>
                <a:cs typeface="Times New Roman" panose="02020603050405020304" pitchFamily="18" charset="0"/>
              </a:rPr>
              <a:t>Works Completed</a:t>
            </a:r>
          </a:p>
        </p:txBody>
      </p:sp>
      <p:pic>
        <p:nvPicPr>
          <p:cNvPr id="9" name="Picture 8">
            <a:extLst>
              <a:ext uri="{FF2B5EF4-FFF2-40B4-BE49-F238E27FC236}">
                <a16:creationId xmlns:a16="http://schemas.microsoft.com/office/drawing/2014/main" id="{A1DFFB4F-276C-EA4F-976D-3658BDC19F70}"/>
              </a:ext>
            </a:extLst>
          </p:cNvPr>
          <p:cNvPicPr>
            <a:picLocks noChangeAspect="1"/>
          </p:cNvPicPr>
          <p:nvPr/>
        </p:nvPicPr>
        <p:blipFill>
          <a:blip r:embed="rId2">
            <a:extLst>
              <a:ext uri="{28A0092B-C50C-407E-A947-70E740481C1C}">
                <a14:useLocalDpi xmlns:a14="http://schemas.microsoft.com/office/drawing/2010/main" val="0"/>
              </a:ext>
            </a:extLst>
          </a:blip>
          <a:srcRect t="2631" r="-1" b="-1"/>
          <a:stretch>
            <a:fillRect/>
          </a:stretch>
        </p:blipFill>
        <p:spPr>
          <a:xfrm>
            <a:off x="6762538" y="3938426"/>
            <a:ext cx="2521447" cy="2778012"/>
          </a:xfrm>
          <a:prstGeom prst="rect">
            <a:avLst/>
          </a:prstGeom>
        </p:spPr>
      </p:pic>
      <p:pic>
        <p:nvPicPr>
          <p:cNvPr id="7" name="Picture 6">
            <a:extLst>
              <a:ext uri="{FF2B5EF4-FFF2-40B4-BE49-F238E27FC236}">
                <a16:creationId xmlns:a16="http://schemas.microsoft.com/office/drawing/2014/main" id="{4B0F1D91-704F-DEC7-D076-8CF5E5AFC8AC}"/>
              </a:ext>
            </a:extLst>
          </p:cNvPr>
          <p:cNvPicPr>
            <a:picLocks noChangeAspect="1"/>
          </p:cNvPicPr>
          <p:nvPr/>
        </p:nvPicPr>
        <p:blipFill>
          <a:blip r:embed="rId3">
            <a:extLst>
              <a:ext uri="{28A0092B-C50C-407E-A947-70E740481C1C}">
                <a14:useLocalDpi xmlns:a14="http://schemas.microsoft.com/office/drawing/2010/main" val="0"/>
              </a:ext>
            </a:extLst>
          </a:blip>
          <a:srcRect l="28542" r="2" b="2"/>
          <a:stretch>
            <a:fillRect/>
          </a:stretch>
        </p:blipFill>
        <p:spPr>
          <a:xfrm>
            <a:off x="306633" y="3938426"/>
            <a:ext cx="3016307" cy="2751623"/>
          </a:xfrm>
          <a:prstGeom prst="rect">
            <a:avLst/>
          </a:prstGeom>
        </p:spPr>
      </p:pic>
      <p:pic>
        <p:nvPicPr>
          <p:cNvPr id="3" name="Picture 2">
            <a:extLst>
              <a:ext uri="{FF2B5EF4-FFF2-40B4-BE49-F238E27FC236}">
                <a16:creationId xmlns:a16="http://schemas.microsoft.com/office/drawing/2014/main" id="{A7697C8F-4134-3E17-0FBA-F149A439C9CC}"/>
              </a:ext>
            </a:extLst>
          </p:cNvPr>
          <p:cNvPicPr>
            <a:picLocks noChangeAspect="1"/>
          </p:cNvPicPr>
          <p:nvPr/>
        </p:nvPicPr>
        <p:blipFill>
          <a:blip r:embed="rId4">
            <a:extLst>
              <a:ext uri="{28A0092B-C50C-407E-A947-70E740481C1C}">
                <a14:useLocalDpi xmlns:a14="http://schemas.microsoft.com/office/drawing/2010/main" val="0"/>
              </a:ext>
            </a:extLst>
          </a:blip>
          <a:srcRect t="6325" r="3" b="3"/>
          <a:stretch>
            <a:fillRect/>
          </a:stretch>
        </p:blipFill>
        <p:spPr>
          <a:xfrm>
            <a:off x="3478172" y="3938426"/>
            <a:ext cx="3003123" cy="2778013"/>
          </a:xfrm>
          <a:prstGeom prst="rect">
            <a:avLst/>
          </a:prstGeom>
        </p:spPr>
      </p:pic>
      <p:pic>
        <p:nvPicPr>
          <p:cNvPr id="11" name="Picture 10">
            <a:extLst>
              <a:ext uri="{FF2B5EF4-FFF2-40B4-BE49-F238E27FC236}">
                <a16:creationId xmlns:a16="http://schemas.microsoft.com/office/drawing/2014/main" id="{92D77713-1597-3058-7EC1-F77FC9A79E63}"/>
              </a:ext>
            </a:extLst>
          </p:cNvPr>
          <p:cNvPicPr>
            <a:picLocks noChangeAspect="1"/>
          </p:cNvPicPr>
          <p:nvPr/>
        </p:nvPicPr>
        <p:blipFill>
          <a:blip r:embed="rId5">
            <a:extLst>
              <a:ext uri="{28A0092B-C50C-407E-A947-70E740481C1C}">
                <a14:useLocalDpi xmlns:a14="http://schemas.microsoft.com/office/drawing/2010/main" val="0"/>
              </a:ext>
            </a:extLst>
          </a:blip>
          <a:srcRect r="-4" b="3015"/>
          <a:stretch>
            <a:fillRect/>
          </a:stretch>
        </p:blipFill>
        <p:spPr>
          <a:xfrm>
            <a:off x="9639651" y="3938426"/>
            <a:ext cx="2245716" cy="2751623"/>
          </a:xfrm>
          <a:prstGeom prst="rect">
            <a:avLst/>
          </a:prstGeom>
        </p:spPr>
      </p:pic>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627215" y="1839719"/>
            <a:ext cx="9599136" cy="3178562"/>
          </a:xfrm>
        </p:spPr>
        <p:txBody>
          <a:bodyPr vert="horz" lIns="91440" tIns="45720" rIns="91440" bIns="45720" rtlCol="0">
            <a:normAutofit/>
          </a:bodyPr>
          <a:lstStyle/>
          <a:p>
            <a:r>
              <a:rPr lang="en-US" sz="2000" dirty="0">
                <a:latin typeface="Times New Roman" panose="02020603050405020304" pitchFamily="18" charset="0"/>
                <a:cs typeface="Times New Roman" panose="02020603050405020304" pitchFamily="18" charset="0"/>
              </a:rPr>
              <a:t>Literature Survey</a:t>
            </a:r>
          </a:p>
          <a:p>
            <a:r>
              <a:rPr lang="en-US" sz="2000" dirty="0">
                <a:latin typeface="Times New Roman" panose="02020603050405020304" pitchFamily="18" charset="0"/>
                <a:cs typeface="Times New Roman" panose="02020603050405020304" pitchFamily="18" charset="0"/>
              </a:rPr>
              <a:t>Problem statement finalization</a:t>
            </a:r>
          </a:p>
          <a:p>
            <a:r>
              <a:rPr lang="en-US" sz="2000" dirty="0">
                <a:latin typeface="Times New Roman" panose="02020603050405020304" pitchFamily="18" charset="0"/>
                <a:cs typeface="Times New Roman" panose="02020603050405020304" pitchFamily="18" charset="0"/>
              </a:rPr>
              <a:t>Technology Stack selection like YOLOv8,MiDaS,EasyOCR/</a:t>
            </a:r>
            <a:r>
              <a:rPr lang="en-US" sz="2000" dirty="0" err="1">
                <a:latin typeface="Times New Roman" panose="02020603050405020304" pitchFamily="18" charset="0"/>
                <a:cs typeface="Times New Roman" panose="02020603050405020304" pitchFamily="18" charset="0"/>
              </a:rPr>
              <a:t>Tessaract,TTS</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Dataset identification and collection: </a:t>
            </a:r>
            <a:r>
              <a:rPr lang="en-US" sz="2000" dirty="0" err="1">
                <a:latin typeface="Times New Roman" panose="02020603050405020304" pitchFamily="18" charset="0"/>
                <a:cs typeface="Times New Roman" panose="02020603050405020304" pitchFamily="18" charset="0"/>
              </a:rPr>
              <a:t>VizWiz</a:t>
            </a:r>
            <a:r>
              <a:rPr lang="en-US" sz="2000" dirty="0">
                <a:latin typeface="Times New Roman" panose="02020603050405020304" pitchFamily="18" charset="0"/>
                <a:cs typeface="Times New Roman" panose="02020603050405020304" pitchFamily="18" charset="0"/>
              </a:rPr>
              <a:t> and </a:t>
            </a:r>
            <a:r>
              <a:rPr lang="en-US" sz="2000" dirty="0" err="1">
                <a:latin typeface="Times New Roman" panose="02020603050405020304" pitchFamily="18" charset="0"/>
                <a:cs typeface="Times New Roman" panose="02020603050405020304" pitchFamily="18" charset="0"/>
              </a:rPr>
              <a:t>TextOCR</a:t>
            </a:r>
            <a:r>
              <a:rPr lang="en-US" sz="2000" dirty="0">
                <a:latin typeface="Times New Roman" panose="02020603050405020304" pitchFamily="18" charset="0"/>
                <a:cs typeface="Times New Roman" panose="02020603050405020304" pitchFamily="18" charset="0"/>
              </a:rPr>
              <a:t>.</a:t>
            </a:r>
          </a:p>
          <a:p>
            <a:pPr marL="0"/>
            <a:endParaRPr lang="en-US" sz="2000" dirty="0"/>
          </a:p>
        </p:txBody>
      </p:sp>
      <p:pic>
        <p:nvPicPr>
          <p:cNvPr id="13" name="Picture 12">
            <a:extLst>
              <a:ext uri="{FF2B5EF4-FFF2-40B4-BE49-F238E27FC236}">
                <a16:creationId xmlns:a16="http://schemas.microsoft.com/office/drawing/2014/main" id="{F14229B3-DBB9-8C67-84B0-13BC5AE980B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29904" y="-13881"/>
            <a:ext cx="1677092" cy="1646600"/>
          </a:xfrm>
          <a:prstGeom prst="rect">
            <a:avLst/>
          </a:prstGeom>
        </p:spPr>
      </p:pic>
      <p:cxnSp>
        <p:nvCxnSpPr>
          <p:cNvPr id="15" name="Straight Connector 14">
            <a:extLst>
              <a:ext uri="{FF2B5EF4-FFF2-40B4-BE49-F238E27FC236}">
                <a16:creationId xmlns:a16="http://schemas.microsoft.com/office/drawing/2014/main" id="{B71B935F-AD30-3F20-4698-3BB92B6B5C12}"/>
              </a:ext>
            </a:extLst>
          </p:cNvPr>
          <p:cNvCxnSpPr>
            <a:cxnSpLocks/>
          </p:cNvCxnSpPr>
          <p:nvPr/>
        </p:nvCxnSpPr>
        <p:spPr>
          <a:xfrm>
            <a:off x="2340947" y="1425717"/>
            <a:ext cx="915437" cy="0"/>
          </a:xfrm>
          <a:prstGeom prst="line">
            <a:avLst/>
          </a:prstGeom>
          <a:ln w="76200">
            <a:solidFill>
              <a:schemeClr val="accent1"/>
            </a:solidFill>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646833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3185652" y="388822"/>
            <a:ext cx="7067271" cy="1044524"/>
          </a:xfrm>
        </p:spPr>
        <p:txBody>
          <a:bodyPr>
            <a:normAutofit/>
          </a:bodyPr>
          <a:lstStyle/>
          <a:p>
            <a:r>
              <a:rPr lang="en-US" sz="4000" b="1" dirty="0">
                <a:latin typeface="Times New Roman" pitchFamily="18" charset="0"/>
                <a:cs typeface="Times New Roman" pitchFamily="18" charset="0"/>
              </a:rPr>
              <a:t>Works to be completed</a:t>
            </a: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434839"/>
          </a:xfrm>
        </p:spPr>
        <p:txBody>
          <a:bodyPr>
            <a:normAutofit/>
          </a:bodyPr>
          <a:lstStyle/>
          <a:p>
            <a:r>
              <a:rPr lang="en-US" sz="2400" dirty="0">
                <a:latin typeface="Times New Roman" pitchFamily="18" charset="0"/>
                <a:cs typeface="Times New Roman" pitchFamily="18" charset="0"/>
              </a:rPr>
              <a:t>Data preprocessing and annotation</a:t>
            </a:r>
          </a:p>
          <a:p>
            <a:r>
              <a:rPr lang="en-US" sz="2400" dirty="0">
                <a:latin typeface="Times New Roman" pitchFamily="18" charset="0"/>
                <a:cs typeface="Times New Roman" pitchFamily="18" charset="0"/>
              </a:rPr>
              <a:t>Model Training  YOLOv8 for object detection </a:t>
            </a:r>
          </a:p>
          <a:p>
            <a:r>
              <a:rPr lang="en-US" sz="2400" dirty="0" err="1">
                <a:latin typeface="Times New Roman" pitchFamily="18" charset="0"/>
                <a:cs typeface="Times New Roman" pitchFamily="18" charset="0"/>
              </a:rPr>
              <a:t>MiDaS</a:t>
            </a:r>
            <a:r>
              <a:rPr lang="en-US" sz="2400" dirty="0">
                <a:latin typeface="Times New Roman" pitchFamily="18" charset="0"/>
                <a:cs typeface="Times New Roman" pitchFamily="18" charset="0"/>
              </a:rPr>
              <a:t> depth estimation integration</a:t>
            </a:r>
          </a:p>
          <a:p>
            <a:r>
              <a:rPr lang="en-US" sz="2400" dirty="0">
                <a:latin typeface="Times New Roman" pitchFamily="18" charset="0"/>
                <a:cs typeface="Times New Roman" pitchFamily="18" charset="0"/>
              </a:rPr>
              <a:t>TTS output pipeline </a:t>
            </a:r>
          </a:p>
          <a:p>
            <a:r>
              <a:rPr lang="en-US" sz="2400" dirty="0">
                <a:latin typeface="Times New Roman" pitchFamily="18" charset="0"/>
                <a:cs typeface="Times New Roman" pitchFamily="18" charset="0"/>
              </a:rPr>
              <a:t>Module integration and testing </a:t>
            </a:r>
          </a:p>
          <a:p>
            <a:r>
              <a:rPr lang="en-US" sz="2400" dirty="0">
                <a:latin typeface="Times New Roman" pitchFamily="18" charset="0"/>
                <a:cs typeface="Times New Roman" pitchFamily="18" charset="0"/>
              </a:rPr>
              <a:t>Edge deployment (Raspberry Pi/Android)</a:t>
            </a:r>
          </a:p>
          <a:p>
            <a:r>
              <a:rPr lang="en-US" sz="2400" dirty="0">
                <a:latin typeface="Times New Roman" pitchFamily="18" charset="0"/>
                <a:cs typeface="Times New Roman" pitchFamily="18" charset="0"/>
              </a:rPr>
              <a:t>Final evaluation and optimization</a:t>
            </a:r>
          </a:p>
        </p:txBody>
      </p:sp>
    </p:spTree>
    <p:extLst>
      <p:ext uri="{BB962C8B-B14F-4D97-AF65-F5344CB8AC3E}">
        <p14:creationId xmlns:p14="http://schemas.microsoft.com/office/powerpoint/2010/main" val="10159705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0387F89-653D-3CCF-826D-A1440B4EEC36}"/>
              </a:ext>
            </a:extLst>
          </p:cNvPr>
          <p:cNvSpPr txBox="1"/>
          <p:nvPr/>
        </p:nvSpPr>
        <p:spPr>
          <a:xfrm>
            <a:off x="2367455" y="311667"/>
            <a:ext cx="7457090"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References</a:t>
            </a:r>
          </a:p>
        </p:txBody>
      </p:sp>
      <p:sp>
        <p:nvSpPr>
          <p:cNvPr id="10" name="TextBox 9">
            <a:extLst>
              <a:ext uri="{FF2B5EF4-FFF2-40B4-BE49-F238E27FC236}">
                <a16:creationId xmlns:a16="http://schemas.microsoft.com/office/drawing/2014/main" id="{FB981190-50FF-8EF8-C79A-0FFF366E6CC1}"/>
              </a:ext>
            </a:extLst>
          </p:cNvPr>
          <p:cNvSpPr txBox="1"/>
          <p:nvPr/>
        </p:nvSpPr>
        <p:spPr>
          <a:xfrm>
            <a:off x="1582993" y="4657893"/>
            <a:ext cx="11444748" cy="646331"/>
          </a:xfrm>
          <a:prstGeom prst="rect">
            <a:avLst/>
          </a:prstGeom>
          <a:noFill/>
        </p:spPr>
        <p:txBody>
          <a:bodyPr wrap="square" rtlCol="0">
            <a:spAutoFit/>
          </a:bodyPr>
          <a:lstStyle/>
          <a:p>
            <a:br>
              <a:rPr lang="en-US" dirty="0"/>
            </a:br>
            <a:endParaRPr lang="en-IN" dirty="0"/>
          </a:p>
        </p:txBody>
      </p:sp>
      <p:sp>
        <p:nvSpPr>
          <p:cNvPr id="11" name="Rectangle 5">
            <a:extLst>
              <a:ext uri="{FF2B5EF4-FFF2-40B4-BE49-F238E27FC236}">
                <a16:creationId xmlns:a16="http://schemas.microsoft.com/office/drawing/2014/main" id="{DAC04AC5-09CD-33A1-9B74-43DDE2F67883}"/>
              </a:ext>
            </a:extLst>
          </p:cNvPr>
          <p:cNvSpPr>
            <a:spLocks noChangeArrowheads="1"/>
          </p:cNvSpPr>
          <p:nvPr/>
        </p:nvSpPr>
        <p:spPr bwMode="auto">
          <a:xfrm>
            <a:off x="206479" y="3575525"/>
            <a:ext cx="12339484" cy="3354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ts val="2000"/>
              </a:lnSpc>
            </a:pPr>
            <a:endParaRPr lang="en-US" sz="1500" dirty="0"/>
          </a:p>
        </p:txBody>
      </p:sp>
      <p:sp>
        <p:nvSpPr>
          <p:cNvPr id="4" name="TextBox 3">
            <a:extLst>
              <a:ext uri="{FF2B5EF4-FFF2-40B4-BE49-F238E27FC236}">
                <a16:creationId xmlns:a16="http://schemas.microsoft.com/office/drawing/2014/main" id="{733D91E8-BA7A-958A-BAE5-ACC65F2C07A3}"/>
              </a:ext>
            </a:extLst>
          </p:cNvPr>
          <p:cNvSpPr txBox="1"/>
          <p:nvPr/>
        </p:nvSpPr>
        <p:spPr>
          <a:xfrm>
            <a:off x="206479" y="1902759"/>
            <a:ext cx="12098594" cy="4016484"/>
          </a:xfrm>
          <a:prstGeom prst="rect">
            <a:avLst/>
          </a:prstGeom>
          <a:noFill/>
        </p:spPr>
        <p:txBody>
          <a:bodyPr wrap="square" rtlCol="0">
            <a:spAutoFit/>
          </a:bodyPr>
          <a:lstStyle/>
          <a:p>
            <a:r>
              <a:rPr lang="en-IN" sz="1500" dirty="0"/>
              <a:t>S. A. Author et al., "Computer Vision based Assistive Technology For Blind and Visually Impaired People," International Journal of Computer Vision, 2021.</a:t>
            </a:r>
          </a:p>
          <a:p>
            <a:r>
              <a:rPr lang="en-IN" sz="1500" dirty="0"/>
              <a:t>R. Kumar and P. Singh, "Assistive Technology for the Visually Impaired Using Computer Vision," IEEE Access, 2020.</a:t>
            </a:r>
          </a:p>
          <a:p>
            <a:r>
              <a:rPr lang="en-IN" sz="1500" dirty="0"/>
              <a:t>M. Sharma et al., "A Smart Assistive System for Visually Impaired People Using Deep Learning Techniques," Journal of Intelligent Systems, 2022.</a:t>
            </a:r>
          </a:p>
          <a:p>
            <a:r>
              <a:rPr lang="en-IN" sz="1500" dirty="0"/>
              <a:t>T. Li and H. Wang, "Vision-Based Mobile Indoor Assistive Navigation Aid for Blind People," IEEE Transactions on Neural Systems and Rehabilitation Engineering, 2019.</a:t>
            </a:r>
          </a:p>
          <a:p>
            <a:r>
              <a:rPr lang="en-IN" sz="1500" dirty="0"/>
              <a:t>T. Li and H. Wang, "Vision-Based Mobile Indoor Assistive Navigation Aid for Blind People (Extended)," IEEE Transactions on Neural Systems and Rehabilitation Engineering, 2020.</a:t>
            </a:r>
          </a:p>
          <a:p>
            <a:r>
              <a:rPr lang="en-IN" sz="1500" dirty="0"/>
              <a:t>A. Patel et al., "Real-Time Object Detection for Blind Navigation using YOLOv3," Procedia Computer Science, 2022.</a:t>
            </a:r>
          </a:p>
          <a:p>
            <a:r>
              <a:rPr lang="en-IN" sz="1500" dirty="0"/>
              <a:t>N. Verma and R. Das, "Deep Learning Based Smart Cane for Visually Impaired," Sensors, 2021.</a:t>
            </a:r>
          </a:p>
          <a:p>
            <a:r>
              <a:rPr lang="en-IN" sz="1500" dirty="0"/>
              <a:t>K. Mehta et al., "Wearable Assistive Device Using SSD for Object Detection," Applied Sciences, 2020.</a:t>
            </a:r>
          </a:p>
          <a:p>
            <a:r>
              <a:rPr lang="en-IN" sz="1500" dirty="0"/>
              <a:t>S. Gupta and A. Jain, "Assistive Navigation System using Faster R-CNN," Expert Systems with Applications, 2021.</a:t>
            </a:r>
          </a:p>
          <a:p>
            <a:r>
              <a:rPr lang="en-IN" sz="1500" dirty="0"/>
              <a:t>P. Reddy and M. Rao, "Smart Vision System for Blind using </a:t>
            </a:r>
            <a:r>
              <a:rPr lang="en-IN" sz="1500" dirty="0" err="1"/>
              <a:t>MobileNet</a:t>
            </a:r>
            <a:r>
              <a:rPr lang="en-IN" sz="1500" dirty="0"/>
              <a:t>," Neural Computing and Applications, 2022.</a:t>
            </a:r>
          </a:p>
          <a:p>
            <a:r>
              <a:rPr lang="en-IN" sz="1500" dirty="0"/>
              <a:t>L. Chen et al., "Obstacle Detection System using Depth Estimation and CNN," Pattern Recognition Letters, 2021.</a:t>
            </a:r>
          </a:p>
          <a:p>
            <a:r>
              <a:rPr lang="en-IN" sz="1500" dirty="0"/>
              <a:t>R. Ahmed and S. Malik, "AI-Based Wearable Navigation System using YOLOv5," Computers &amp; Electrical Engineering, 2023.</a:t>
            </a:r>
          </a:p>
          <a:p>
            <a:r>
              <a:rPr lang="en-IN" sz="1500" dirty="0"/>
              <a:t>H. Zhao et al., "Real-Time Scene Understanding for Visually Impaired using CNN," Image and Vision Computing, 2022.</a:t>
            </a:r>
          </a:p>
          <a:p>
            <a:r>
              <a:rPr lang="en-IN" sz="1500" dirty="0"/>
              <a:t>F. Islam and T. Hasan, "Assistive System using Semantic Segmentation for Navigation," Robotics and Autonomous Systems, 2023.</a:t>
            </a:r>
          </a:p>
          <a:p>
            <a:r>
              <a:rPr lang="en-IN" sz="1500" dirty="0"/>
              <a:t>Y. Zhang et al., "Smart Glasses for Blind using Deep Learning," IEEE Sensors Journal, 2022</a:t>
            </a:r>
          </a:p>
        </p:txBody>
      </p:sp>
    </p:spTree>
    <p:extLst>
      <p:ext uri="{BB962C8B-B14F-4D97-AF65-F5344CB8AC3E}">
        <p14:creationId xmlns:p14="http://schemas.microsoft.com/office/powerpoint/2010/main" val="3870875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9A263B-8A7B-0042-97C3-710B08B5189E}"/>
              </a:ext>
            </a:extLst>
          </p:cNvPr>
          <p:cNvSpPr>
            <a:spLocks noGrp="1"/>
          </p:cNvSpPr>
          <p:nvPr>
            <p:ph type="title"/>
          </p:nvPr>
        </p:nvSpPr>
        <p:spPr>
          <a:xfrm>
            <a:off x="4267200" y="831274"/>
            <a:ext cx="7067271" cy="1044524"/>
          </a:xfrm>
        </p:spPr>
        <p:txBody>
          <a:bodyPr>
            <a:normAutofit/>
          </a:bodyPr>
          <a:lstStyle/>
          <a:p>
            <a:endParaRPr lang="en-US" sz="4000" b="1" dirty="0">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78C41660-C051-A748-95D5-B5D26201F9D6}"/>
              </a:ext>
            </a:extLst>
          </p:cNvPr>
          <p:cNvSpPr>
            <a:spLocks noGrp="1"/>
          </p:cNvSpPr>
          <p:nvPr>
            <p:ph sz="half" idx="1"/>
          </p:nvPr>
        </p:nvSpPr>
        <p:spPr>
          <a:xfrm>
            <a:off x="289560" y="1737360"/>
            <a:ext cx="10500360" cy="4434839"/>
          </a:xfrm>
        </p:spPr>
        <p:txBody>
          <a:bodyPr>
            <a:normAutofit/>
          </a:bodyPr>
          <a:lstStyle/>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buNone/>
            </a:pPr>
            <a:endParaRPr lang="en-US" sz="2400" dirty="0">
              <a:latin typeface="Times New Roman" pitchFamily="18" charset="0"/>
              <a:cs typeface="Times New Roman" pitchFamily="18" charset="0"/>
            </a:endParaRPr>
          </a:p>
          <a:p>
            <a:pPr marL="0" indent="0" algn="ctr">
              <a:buNone/>
            </a:pPr>
            <a:r>
              <a:rPr lang="en-US" sz="4800" dirty="0">
                <a:latin typeface="Times New Roman" pitchFamily="18" charset="0"/>
                <a:cs typeface="Times New Roman" pitchFamily="18" charset="0"/>
              </a:rPr>
              <a:t>Thank you</a:t>
            </a:r>
          </a:p>
        </p:txBody>
      </p:sp>
    </p:spTree>
    <p:extLst>
      <p:ext uri="{BB962C8B-B14F-4D97-AF65-F5344CB8AC3E}">
        <p14:creationId xmlns:p14="http://schemas.microsoft.com/office/powerpoint/2010/main" val="5974679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3371</TotalTime>
  <Words>2049</Words>
  <Application>Microsoft Office PowerPoint</Application>
  <PresentationFormat>Widescreen</PresentationFormat>
  <Paragraphs>336</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PowerPoint Presentation</vt:lpstr>
      <vt:lpstr>Contents</vt:lpstr>
      <vt:lpstr>Introduction</vt:lpstr>
      <vt:lpstr>Introduction(Cont…)</vt:lpstr>
      <vt:lpstr>Introduction(Cont…)</vt:lpstr>
      <vt:lpstr>Introduction(Cont…)</vt:lpstr>
      <vt:lpstr>Objectives</vt:lpstr>
      <vt:lpstr>Objectives (Cont…)</vt:lpstr>
      <vt:lpstr>Literature  Review</vt:lpstr>
      <vt:lpstr>Literature Review(Cont...)</vt:lpstr>
      <vt:lpstr>Datasets</vt:lpstr>
      <vt:lpstr>Proposed method</vt:lpstr>
      <vt:lpstr>Proposed method (Cont…)</vt:lpstr>
      <vt:lpstr>Architecture</vt:lpstr>
      <vt:lpstr>Architecture(Cont…)</vt:lpstr>
      <vt:lpstr>Architecture(Cont…)</vt:lpstr>
      <vt:lpstr>Architecture(Cont…)</vt:lpstr>
      <vt:lpstr>Hardware/Software requirements</vt:lpstr>
      <vt:lpstr>Hardware/Software requirements(Cont…)</vt:lpstr>
      <vt:lpstr>Algorithms</vt:lpstr>
      <vt:lpstr>Implementation- Modules</vt:lpstr>
      <vt:lpstr>Works Completed</vt:lpstr>
      <vt:lpstr>Works to be completed</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Prof. Sandeep</dc:creator>
  <cp:lastModifiedBy>MONKEY D LUFFY</cp:lastModifiedBy>
  <cp:revision>104</cp:revision>
  <dcterms:created xsi:type="dcterms:W3CDTF">2020-08-31T05:52:39Z</dcterms:created>
  <dcterms:modified xsi:type="dcterms:W3CDTF">2026-06-11T02:52:05Z</dcterms:modified>
</cp:coreProperties>
</file>